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Lignes de code</c:v>
                </c:pt>
              </c:strCache>
            </c:strRef>
          </c:tx>
          <c:spPr>
            <a:solidFill>
              <a:srgbClr val="2D5B9E"/>
            </a:solidFill>
            <a:effectLst/>
          </c:spPr>
          <c:invertIfNegative val="0"/>
          <c:dLbls>
            <c:numFmt formatCode="#,##0" sourceLinked="0"/>
            <c:txPr>
              <a:bodyPr/>
              <a:lstStyle/>
              <a:p>
                <a:pPr>
                  <a:defRPr b="0" i="0" strike="noStrike" sz="1000" u="none">
                    <a:solidFill>
                      <a:srgbClr val="1E293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ui</c:v>
                  </c:pt>
                  <c:pt idx="1">
                    <c:v>simulation</c:v>
                  </c:pt>
                  <c:pt idx="2">
                    <c:v>map</c:v>
                  </c:pt>
                  <c:pt idx="3">
                    <c:v>graphics</c:v>
                  </c:pt>
                  <c:pt idx="4">
                    <c:v>utils</c:v>
                  </c:pt>
                  <c:pt idx="5">
                    <c:v>v2v</c:v>
                  </c:pt>
                  <c:pt idx="6">
                    <c:v>graph</c:v>
                  </c:pt>
                </c:lvl>
              </c:multiLvlStrCache>
            </c:multiLvlStrRef>
          </c:cat>
          <c:val>
            <c:numRef>
              <c:f>Sheet1!$B$2:$B$8</c:f>
              <c:numCache>
                <c:formatCode>General</c:formatCode>
                <c:ptCount val="7"/>
                <c:pt idx="0">
                  <c:v>1732</c:v>
                </c:pt>
                <c:pt idx="1">
                  <c:v>1618</c:v>
                </c:pt>
                <c:pt idx="2">
                  <c:v>926</c:v>
                </c:pt>
                <c:pt idx="3">
                  <c:v>857</c:v>
                </c:pt>
                <c:pt idx="4">
                  <c:v>848</c:v>
                </c:pt>
                <c:pt idx="5">
                  <c:v>718</c:v>
                </c:pt>
                <c:pt idx="6">
                  <c:v>713</c:v>
                </c:pt>
              </c:numCache>
            </c:numRef>
          </c:val>
        </c:ser>
        <c:dLbls>
          <c:numFmt formatCode="#,##0" sourceLinked="0"/>
          <c:txPr>
            <a:bodyPr/>
            <a:lstStyle/>
            <a:p>
              <a:pPr>
                <a:defRPr b="0" i="0" strike="noStrike" sz="1000" u="none">
                  <a:solidFill>
                    <a:srgbClr val="1E293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Calibri"/>
              </a:defRPr>
            </a:pPr>
            <a:endParaRPr lang="en-US"/>
          </a:p>
        </c:txPr>
        <c:crossAx val="2094734552"/>
        <c:crosses val="autoZero"/>
        <c:auto val="1"/>
        <c:lblAlgn val="ctr"/>
        <c:noMultiLvlLbl val="1"/>
      </c:catAx>
      <c:valAx>
        <c:axId val="2094734552"/>
        <c:scaling>
          <c:orientation val="minMax"/>
          <c:max val="200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Calibri"/>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Bonjour, merci de nous recevoir. Nous sommes Mia et Mohammed et nous présentons notre projet tutoré : un simulateur de communication Vehicle-to-Vehicle, développé en C++ et OpenGL. L'idée : faire rouler des milliers de véhicules sur une vraie carte et visualiser le réseau radio qui les relie. La présentation dure une quinzaine de minutes, en deux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Voici comment nous organisons la présentation. Je prends la première partie : les fondations techniques et le système cartographique. Mohammed enchaînera avec la deuxième partie : la simulation du trafic et le réseau V2V, qui est le cœur du sujet. Comptez environ 7 minutes par partie, puis nous garderons du temps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En une phrase : V2V part d'une vraie carte OpenStreetMap et y fait vivre un trafic dense que l'on peut observer, piloter et mesurer en temps réel. Quelques chiffres : environ 8 300 lignes de C++, 7 modules, et un objectif de 2000 véhicules à 60 images par seconde. Dans nos derniers essais, l'application tourne à plus de 100 images/seconde avec 1500 véhicules — la cible de performance est donc tenue. La capture montre le résultat : routes, véhicules et liens de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J'entame la première partie. Je vais vous présenter ce qu'est le projet et ses objectifs, la pile technologique, l'architecture en 7 modules, puis deux modules en détail : le moteur graphique et le système cartographique.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Le principe : on part d'une carte réelle, on en extrait le réseau de rues, et on y lâche des véhicules autonomes qui se déplacent et communiquent. C'est un sujet concret — le V2V est au cœur des véhicules connectés : alertes de collision, coordination du trafic. Le vrai défi technique est de rester fluide malgré le grand nombre d'agents. Au-delà du noyau, nous avons ajouté des feux, des accidents, une carte de densité et la météo, qui influence même la physique.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Le projet est en C++20 avec OpenGL 3.3. Un point pratique : nous n'imposons aucune installation manuelle — CMake, via FetchContent, télécharge lui-même toutes les bibliothèques : GLFW pour la fenêtre, GLM pour les maths, ImGui pour l'interface, pugixml pour lire les cartes, libcurl pour les tuiles. Deux commandes suffisent pour compiler. Nous avons choisi C++20 pour ses tables constexpr et du code plus sûr.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Le choix d'architecture le plus important : nous séparons l'état — la simulation pure, sans aucune ligne de code graphique — du rendu, qui ne fait que lire cet état. Résultat : le moteur peut tourner et être testé sans affichage. Concrètement, 7 modules : graphics, map, graph, simulation, v2v, ui, plus un module utils transversal. La boucle principale enchaîne, à chaque image : entrées, simulation, grille spatiale, réseau V2V, puis le rendu et l'interface.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Le module graphique gère trois choses : la fenêtre (une enveloppe RAII autour de GLFW), le renderer qui détient l'état OpenGL partagé, et la caméra 2D. La caméra mérite un mot : le zoom est ancré sur le curseur — le point sous la souris reste fixe — et surtout la caméra glisse en douceur vers sa cible plutôt que de sauter brutalement. C'est ce lissage cinématique qui donne un rendu professionnel quand on recentre la vue ou qu'on suit un véhicule.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[Mia] La cartographie est le sous-système le plus délicat car il combine trois difficultés. La projection : on convertit latitude/longitude en mètres Web Mercator. Le réseau : un pool de threads télécharge les tuiles en arrière-plan, sans jamais bloquer l'affichage. La mémoire : un cache LRU garde les tuiles récentes sur le GPU et évince les plus anciennes. Voilà pour ma partie — je laisse Mohammed présenter la simulation et le réseau V2V.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Merci Mia. J'aborde maintenant le cœur du projet : comment les véhicules circulent — graphe routier et algorithme A* — les systèmes de trafic, le réseau V2V proprement dit, l'optimisation des performances, et enfin l'interface utilisateur.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Tout part du graphe routier. On lit le fichier OpenStreetMap, on ne garde que les voies réellement carrossables, et on construit un graphe : des nœuds — les intersections — reliés par des arêtes — les tronçons de rue. Une rue à double sens donne deux arêtes opposées. Les données sont rangées dans des vecteurs plats, pour la rapidité. C'est cette structure qui rend la navigation possible : sans graphe, pas de recherche d'itinéraire.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Chaque véhicule connaît sa position comme un couple : sur quelle arête, et à quelle distance du début. Pour aller d'un point A à un point B, on utilise l'algorithme A*, qui cherche le chemin le plus rapide en temps — pas le plus court en distance. Point clé pour la performance : on limite le nombre de recherches A* à 32 par image. Sans ce plafond, calculer 2000 itinéraires d'un coup ferait chuter le framerate. Enfin, le moteur surveille la distance entre véhicules pour éviter qu'ils ne se traversent.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Par-dessus le moteur, trois systèmes apportent du réalisme. Les feux de signalisation : aux vrais carrefours, une seule direction est au vert à la fois, et les véhicules s'arrêtent au rouge. Les accidents : ils se déclenchent quand deux véhicules se suivent de trop près ; les véhicules accidentés deviennent des obstacles et émettent une alerte V2V. La carte de densité : une grille colorée du bleu au rouge montre où le trafic se concentre. Si vous le souhaitez, je peux déclencher un accident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Voici le cœur du sujet. À chaque image, on recalcule tous les liens de communication : deux véhicules sont reliés s'ils sont dans la portée radio l'un de l'autre. La force du signal décroît avec la distance — on la traduit par une couleur, du vert (fort) au rouge (faible). Nous gérons aussi les diffusions multi-sauts : un message se propage en anneau et peut être relayé de proche en proche, chaque saut ayant sa couleur. La météo réduit la portée — la pluie un peu, le brouillard beaucoup.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C'est la slide la plus importante pour la performance. Pour tenir 2000 véhicules à 60 images/seconde, il fallait supprimer tout algorithme quadratique. Première arme : la grille spatiale. Au lieu de comparer chaque véhicule à tous les autres — coût en n carré — on les range dans une grille et chaque recherche ne regarde que les cellules voisines : coût linéaire. Deuxième arme : le rendu instancié — tous les véhicules dessinés en un seul appel. Et un profileur intégré mesure tout en direct. Résultat concret : nos derniers essais tournent au-delà de 100 images/seconde avec 1500 véhicules — donc le framerate reste excellent même en ajoutant des voitures.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L'interface a beaucoup évolué : c'est devenu un vrai poste de pilotage, en mode immédiat avec ImGui. En haut, une barre de métriques en direct — véhicules, liens, FPS, signal, diffusions, alertes — chacune avec une mini-courbe. À gauche, le Control Center : on règle l'heure, la météo, la taille des véhicules, on choisit un preset de qualité, et le radar permet de cliquer pour se téléporter. À droite, l'inspecteur de véhicule, la télémétrie, les réglages V2V et accidents, et un flux d'événements horodaté. La météo n'est pas que décorative : elle agit sur la portée radio et la vitesse.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Le projet en chiffres : environ 8 300 lignes de C++, réparties sur 7 modules. L'interface et la simulation pèsent à elles seules 40 % du code — c'est logique, ce sont les parties les plus riches. Côté méthode, nous avons travaillé par étapes : chaque étape devait produire une démo qui marche avant de passer à la suivante. Nous avons aussi vérifié la cohérence du code et corrigé quelques détails.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 Pour conclure : les 7 modules sont en place et fonctionnent, avec en plus les feux, les accidents, la densité et la météo. Il nous reste à compiler et valider sur le poste de développement, à finaliser le rapport écrit, et à nettoyer un peu de code. Comme pistes d'évolution, nous pensons à un modèle radio plus physique. Nous avons deux questions pour vous : le périmètre est-il suffisant, et quelles sont vos attentes sur le rapport et la soutenance ? Merci de votre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F"/>
        </a:solidFill>
      </p:bgPr>
    </p:bg>
    <p:spTree>
      <p:nvGrpSpPr>
        <p:cNvPr id="1" name=""/>
        <p:cNvGrpSpPr/>
        <p:nvPr/>
      </p:nvGrpSpPr>
      <p:grpSpPr>
        <a:xfrm>
          <a:off x="0" y="0"/>
          <a:ext cx="0" cy="0"/>
          <a:chOff x="0" y="0"/>
          <a:chExt cx="0" cy="0"/>
        </a:xfrm>
      </p:grpSpPr>
      <p:sp>
        <p:nvSpPr>
          <p:cNvPr id="2" name="Shape 0"/>
          <p:cNvSpPr/>
          <p:nvPr/>
        </p:nvSpPr>
        <p:spPr>
          <a:xfrm>
            <a:off x="-2377440" y="-2926080"/>
            <a:ext cx="6400800" cy="6400800"/>
          </a:xfrm>
          <a:prstGeom prst="ellipse">
            <a:avLst/>
          </a:prstGeom>
          <a:solidFill>
            <a:srgbClr val="2D5B9E">
              <a:alpha val="22000"/>
            </a:srgbClr>
          </a:solidFill>
          <a:ln/>
        </p:spPr>
      </p:sp>
      <p:sp>
        <p:nvSpPr>
          <p:cNvPr id="3" name="Shape 1"/>
          <p:cNvSpPr/>
          <p:nvPr/>
        </p:nvSpPr>
        <p:spPr>
          <a:xfrm>
            <a:off x="9079992" y="3566160"/>
            <a:ext cx="6858000" cy="6858000"/>
          </a:xfrm>
          <a:prstGeom prst="ellipse">
            <a:avLst/>
          </a:prstGeom>
          <a:solidFill>
            <a:srgbClr val="2D5B9E">
              <a:alpha val="18000"/>
            </a:srgbClr>
          </a:solidFill>
          <a:ln/>
        </p:spPr>
      </p:sp>
      <p:pic>
        <p:nvPicPr>
          <p:cNvPr id="4" name="Image 0" descr="/sessions/lucid-gifted-tesla/mnt/V2V/IMAGES/UHA_cartouche.png">    </p:cNvPr>
          <p:cNvPicPr>
            <a:picLocks noChangeAspect="1"/>
          </p:cNvPicPr>
          <p:nvPr/>
        </p:nvPicPr>
        <p:blipFill>
          <a:blip r:embed="rId1"/>
          <a:stretch>
            <a:fillRect/>
          </a:stretch>
        </p:blipFill>
        <p:spPr>
          <a:xfrm>
            <a:off x="640080" y="502920"/>
            <a:ext cx="1828800" cy="1325880"/>
          </a:xfrm>
          <a:prstGeom prst="rect">
            <a:avLst/>
          </a:prstGeom>
        </p:spPr>
      </p:pic>
      <p:sp>
        <p:nvSpPr>
          <p:cNvPr id="5" name="Text 2"/>
          <p:cNvSpPr/>
          <p:nvPr/>
        </p:nvSpPr>
        <p:spPr>
          <a:xfrm>
            <a:off x="685800" y="2148840"/>
            <a:ext cx="10058400" cy="365760"/>
          </a:xfrm>
          <a:prstGeom prst="rect">
            <a:avLst/>
          </a:prstGeom>
          <a:noFill/>
          <a:ln/>
        </p:spPr>
        <p:txBody>
          <a:bodyPr wrap="square" rtlCol="0" anchor="ctr"/>
          <a:lstStyle/>
          <a:p>
            <a:pPr indent="0" marL="0">
              <a:buNone/>
            </a:pPr>
            <a:r>
              <a:rPr lang="en-US" sz="1400" b="1" spc="300" kern="0" dirty="0">
                <a:solidFill>
                  <a:srgbClr val="D4A12A"/>
                </a:solidFill>
                <a:latin typeface="Calibri" pitchFamily="34" charset="0"/>
                <a:ea typeface="Calibri" pitchFamily="34" charset="-122"/>
                <a:cs typeface="Calibri" pitchFamily="34" charset="-120"/>
              </a:rPr>
              <a:t>PROJET TUTORÉ  ·  RÉUNION ENCADRANT</a:t>
            </a:r>
            <a:endParaRPr lang="en-US" sz="1400" dirty="0"/>
          </a:p>
        </p:txBody>
      </p:sp>
      <p:sp>
        <p:nvSpPr>
          <p:cNvPr id="6" name="Text 3"/>
          <p:cNvSpPr/>
          <p:nvPr/>
        </p:nvSpPr>
        <p:spPr>
          <a:xfrm>
            <a:off x="640080" y="2514600"/>
            <a:ext cx="10972800" cy="868680"/>
          </a:xfrm>
          <a:prstGeom prst="rect">
            <a:avLst/>
          </a:prstGeom>
          <a:noFill/>
          <a:ln/>
        </p:spPr>
        <p:txBody>
          <a:bodyPr wrap="square" rtlCol="0" anchor="ctr"/>
          <a:lstStyle/>
          <a:p>
            <a:pPr indent="0" marL="0">
              <a:buNone/>
            </a:pPr>
            <a:r>
              <a:rPr lang="en-US" sz="4600" b="1" dirty="0">
                <a:solidFill>
                  <a:srgbClr val="FFFFFF"/>
                </a:solidFill>
                <a:latin typeface="Trebuchet MS" pitchFamily="34" charset="0"/>
                <a:ea typeface="Trebuchet MS" pitchFamily="34" charset="-122"/>
                <a:cs typeface="Trebuchet MS" pitchFamily="34" charset="-120"/>
              </a:rPr>
              <a:t>Simulateur de communication</a:t>
            </a:r>
            <a:endParaRPr lang="en-US" sz="4600" dirty="0"/>
          </a:p>
        </p:txBody>
      </p:sp>
      <p:sp>
        <p:nvSpPr>
          <p:cNvPr id="7" name="Text 4"/>
          <p:cNvSpPr/>
          <p:nvPr/>
        </p:nvSpPr>
        <p:spPr>
          <a:xfrm>
            <a:off x="640080" y="3291840"/>
            <a:ext cx="10972800" cy="868680"/>
          </a:xfrm>
          <a:prstGeom prst="rect">
            <a:avLst/>
          </a:prstGeom>
          <a:noFill/>
          <a:ln/>
        </p:spPr>
        <p:txBody>
          <a:bodyPr wrap="square" rtlCol="0" anchor="ctr"/>
          <a:lstStyle/>
          <a:p>
            <a:pPr indent="0" marL="0">
              <a:buNone/>
            </a:pPr>
            <a:r>
              <a:rPr lang="en-US" sz="4600" b="1" dirty="0">
                <a:solidFill>
                  <a:srgbClr val="D4A12A"/>
                </a:solidFill>
                <a:latin typeface="Trebuchet MS" pitchFamily="34" charset="0"/>
                <a:ea typeface="Trebuchet MS" pitchFamily="34" charset="-122"/>
                <a:cs typeface="Trebuchet MS" pitchFamily="34" charset="-120"/>
              </a:rPr>
              <a:t>Vehicle-to-Vehicle  (V2V)</a:t>
            </a:r>
            <a:endParaRPr lang="en-US" sz="4600" dirty="0"/>
          </a:p>
        </p:txBody>
      </p:sp>
      <p:sp>
        <p:nvSpPr>
          <p:cNvPr id="8" name="Text 5"/>
          <p:cNvSpPr/>
          <p:nvPr/>
        </p:nvSpPr>
        <p:spPr>
          <a:xfrm>
            <a:off x="676656" y="4206240"/>
            <a:ext cx="8686800" cy="640080"/>
          </a:xfrm>
          <a:prstGeom prst="rect">
            <a:avLst/>
          </a:prstGeom>
          <a:noFill/>
          <a:ln/>
        </p:spPr>
        <p:txBody>
          <a:bodyPr wrap="square" rtlCol="0" anchor="ctr"/>
          <a:lstStyle/>
          <a:p>
            <a:pPr indent="0" marL="0">
              <a:buNone/>
            </a:pPr>
            <a:r>
              <a:rPr lang="en-US" sz="1600" dirty="0">
                <a:solidFill>
                  <a:srgbClr val="C7D2E6"/>
                </a:solidFill>
                <a:latin typeface="Calibri" pitchFamily="34" charset="0"/>
                <a:ea typeface="Calibri" pitchFamily="34" charset="-122"/>
                <a:cs typeface="Calibri" pitchFamily="34" charset="-120"/>
              </a:rPr>
              <a:t>Visualisation temps réel d'un trafic urbain et de son réseau de communication inter-véhicules</a:t>
            </a:r>
            <a:endParaRPr lang="en-US" sz="1600" dirty="0"/>
          </a:p>
        </p:txBody>
      </p:sp>
      <p:sp>
        <p:nvSpPr>
          <p:cNvPr id="9" name="Shape 6"/>
          <p:cNvSpPr/>
          <p:nvPr/>
        </p:nvSpPr>
        <p:spPr>
          <a:xfrm>
            <a:off x="713232" y="5029200"/>
            <a:ext cx="2926080" cy="0"/>
          </a:xfrm>
          <a:prstGeom prst="line">
            <a:avLst/>
          </a:prstGeom>
          <a:noFill/>
          <a:ln w="31750">
            <a:solidFill>
              <a:srgbClr val="D4A12A"/>
            </a:solidFill>
            <a:prstDash val="solid"/>
          </a:ln>
        </p:spPr>
      </p:sp>
      <p:sp>
        <p:nvSpPr>
          <p:cNvPr id="10" name="Text 7"/>
          <p:cNvSpPr/>
          <p:nvPr/>
        </p:nvSpPr>
        <p:spPr>
          <a:xfrm>
            <a:off x="713232" y="5212080"/>
            <a:ext cx="8229600" cy="457200"/>
          </a:xfrm>
          <a:prstGeom prst="rect">
            <a:avLst/>
          </a:prstGeom>
          <a:noFill/>
          <a:ln/>
        </p:spPr>
        <p:txBody>
          <a:bodyPr wrap="square" rtlCol="0" anchor="ctr"/>
          <a:lstStyle/>
          <a:p>
            <a:pPr indent="0" marL="0">
              <a:buNone/>
            </a:pPr>
            <a:r>
              <a:rPr lang="en-US" sz="1600" dirty="0">
                <a:solidFill>
                  <a:srgbClr val="9FB0CC"/>
                </a:solidFill>
                <a:latin typeface="Calibri" pitchFamily="34" charset="0"/>
                <a:ea typeface="Calibri" pitchFamily="34" charset="-122"/>
                <a:cs typeface="Calibri" pitchFamily="34" charset="-120"/>
              </a:rPr>
              <a:t>Présenté par  </a:t>
            </a:r>
            <a:pPr indent="0" marL="0">
              <a:buNone/>
            </a:pPr>
            <a:r>
              <a:rPr lang="en-US" sz="1600" b="1" dirty="0">
                <a:solidFill>
                  <a:srgbClr val="FFFFFF"/>
                </a:solidFill>
                <a:latin typeface="Calibri" pitchFamily="34" charset="0"/>
                <a:ea typeface="Calibri" pitchFamily="34" charset="-122"/>
                <a:cs typeface="Calibri" pitchFamily="34" charset="-120"/>
              </a:rPr>
              <a:t>Mia</a:t>
            </a:r>
            <a:pPr indent="0" marL="0">
              <a:buNone/>
            </a:pPr>
            <a:r>
              <a:rPr lang="en-US" sz="1600" dirty="0">
                <a:solidFill>
                  <a:srgbClr val="9FB0CC"/>
                </a:solidFill>
                <a:latin typeface="Calibri" pitchFamily="34" charset="0"/>
                <a:ea typeface="Calibri" pitchFamily="34" charset="-122"/>
                <a:cs typeface="Calibri" pitchFamily="34" charset="-120"/>
              </a:rPr>
              <a:t>   &amp;   </a:t>
            </a:r>
            <a:pPr indent="0" marL="0">
              <a:buNone/>
            </a:pPr>
            <a:r>
              <a:rPr lang="en-US" sz="1600" b="1" dirty="0">
                <a:solidFill>
                  <a:srgbClr val="FFFFFF"/>
                </a:solidFill>
                <a:latin typeface="Calibri" pitchFamily="34" charset="0"/>
                <a:ea typeface="Calibri" pitchFamily="34" charset="-122"/>
                <a:cs typeface="Calibri" pitchFamily="34" charset="-120"/>
              </a:rPr>
              <a:t>Mohammed</a:t>
            </a:r>
            <a:endParaRPr lang="en-US" sz="1600" dirty="0"/>
          </a:p>
        </p:txBody>
      </p:sp>
      <p:sp>
        <p:nvSpPr>
          <p:cNvPr id="11" name="Text 8"/>
          <p:cNvSpPr/>
          <p:nvPr/>
        </p:nvSpPr>
        <p:spPr>
          <a:xfrm>
            <a:off x="713232" y="5715000"/>
            <a:ext cx="10058400" cy="365760"/>
          </a:xfrm>
          <a:prstGeom prst="rect">
            <a:avLst/>
          </a:prstGeom>
          <a:noFill/>
          <a:ln/>
        </p:spPr>
        <p:txBody>
          <a:bodyPr wrap="square" rtlCol="0" anchor="ctr"/>
          <a:lstStyle/>
          <a:p>
            <a:pPr indent="0" marL="0">
              <a:buNone/>
            </a:pPr>
            <a:r>
              <a:rPr lang="en-US" sz="1250" dirty="0">
                <a:solidFill>
                  <a:srgbClr val="9FB0CC"/>
                </a:solidFill>
                <a:latin typeface="Calibri" pitchFamily="34" charset="0"/>
                <a:ea typeface="Calibri" pitchFamily="34" charset="-122"/>
                <a:cs typeface="Calibri" pitchFamily="34" charset="-120"/>
              </a:rPr>
              <a:t>C++20  ·  OpenGL 3.3 Core  ·  CMake          Mai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ORGANISATION DE LA RÉUNION</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Qui présente quoi</a:t>
            </a:r>
            <a:endParaRPr lang="en-US" sz="2700" dirty="0"/>
          </a:p>
        </p:txBody>
      </p:sp>
      <p:sp>
        <p:nvSpPr>
          <p:cNvPr id="6" name="Text 4"/>
          <p:cNvSpPr/>
          <p:nvPr/>
        </p:nvSpPr>
        <p:spPr>
          <a:xfrm>
            <a:off x="1325880" y="1371600"/>
            <a:ext cx="9692640" cy="548640"/>
          </a:xfrm>
          <a:prstGeom prst="rect">
            <a:avLst/>
          </a:prstGeom>
          <a:noFill/>
          <a:ln/>
        </p:spPr>
        <p:txBody>
          <a:bodyPr wrap="square" rtlCol="0" anchor="ctr"/>
          <a:lstStyle/>
          <a:p>
            <a:pPr indent="0" marL="0">
              <a:buNone/>
            </a:pPr>
            <a:r>
              <a:rPr lang="en-US" sz="1300" dirty="0">
                <a:solidFill>
                  <a:srgbClr val="8893A6"/>
                </a:solidFill>
                <a:latin typeface="Calibri" pitchFamily="34" charset="0"/>
                <a:ea typeface="Calibri" pitchFamily="34" charset="-122"/>
                <a:cs typeface="Calibri" pitchFamily="34" charset="-120"/>
              </a:rPr>
              <a:t>Nous nous partageons l'exposé en deux parties équilibrées : les fondations techniques et la cartographie d'un côté, la simulation et le réseau V2V de l'autre.</a:t>
            </a:r>
            <a:endParaRPr lang="en-US" sz="1300" dirty="0"/>
          </a:p>
        </p:txBody>
      </p:sp>
      <p:sp>
        <p:nvSpPr>
          <p:cNvPr id="7" name="Shape 5"/>
          <p:cNvSpPr/>
          <p:nvPr/>
        </p:nvSpPr>
        <p:spPr>
          <a:xfrm>
            <a:off x="868680" y="2057400"/>
            <a:ext cx="5074920" cy="4160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8" name="Shape 6"/>
          <p:cNvSpPr/>
          <p:nvPr/>
        </p:nvSpPr>
        <p:spPr>
          <a:xfrm>
            <a:off x="868680" y="2057400"/>
            <a:ext cx="5074920" cy="868680"/>
          </a:xfrm>
          <a:prstGeom prst="rect">
            <a:avLst/>
          </a:prstGeom>
          <a:solidFill>
            <a:srgbClr val="2D5B9E"/>
          </a:solidFill>
          <a:ln/>
        </p:spPr>
      </p:sp>
      <p:sp>
        <p:nvSpPr>
          <p:cNvPr id="9" name="Text 7"/>
          <p:cNvSpPr/>
          <p:nvPr/>
        </p:nvSpPr>
        <p:spPr>
          <a:xfrm>
            <a:off x="1188720" y="2148840"/>
            <a:ext cx="443484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Mia</a:t>
            </a:r>
            <a:endParaRPr lang="en-US" sz="2200" dirty="0"/>
          </a:p>
        </p:txBody>
      </p:sp>
      <p:sp>
        <p:nvSpPr>
          <p:cNvPr id="10" name="Text 8"/>
          <p:cNvSpPr/>
          <p:nvPr/>
        </p:nvSpPr>
        <p:spPr>
          <a:xfrm>
            <a:off x="1188720" y="2560320"/>
            <a:ext cx="4434840" cy="292608"/>
          </a:xfrm>
          <a:prstGeom prst="rect">
            <a:avLst/>
          </a:prstGeom>
          <a:noFill/>
          <a:ln/>
        </p:spPr>
        <p:txBody>
          <a:bodyPr wrap="square" lIns="0" tIns="0" rIns="0" bIns="0" rtlCol="0" anchor="ctr"/>
          <a:lstStyle/>
          <a:p>
            <a:pPr indent="0" marL="0">
              <a:buNone/>
            </a:pPr>
            <a:r>
              <a:rPr lang="en-US" sz="1200" dirty="0">
                <a:solidFill>
                  <a:srgbClr val="E7ECF5"/>
                </a:solidFill>
                <a:latin typeface="Calibri" pitchFamily="34" charset="0"/>
                <a:ea typeface="Calibri" pitchFamily="34" charset="-122"/>
                <a:cs typeface="Calibri" pitchFamily="34" charset="-120"/>
              </a:rPr>
              <a:t>Partie 1 — Fondations &amp; cartographie</a:t>
            </a:r>
            <a:endParaRPr lang="en-US" sz="1200" dirty="0"/>
          </a:p>
        </p:txBody>
      </p:sp>
      <p:sp>
        <p:nvSpPr>
          <p:cNvPr id="11" name="Text 9"/>
          <p:cNvSpPr/>
          <p:nvPr/>
        </p:nvSpPr>
        <p:spPr>
          <a:xfrm>
            <a:off x="1234440" y="3154680"/>
            <a:ext cx="4343400" cy="2834640"/>
          </a:xfrm>
          <a:prstGeom prst="rect">
            <a:avLst/>
          </a:prstGeom>
          <a:noFill/>
          <a:ln/>
        </p:spPr>
        <p:txBody>
          <a:bodyPr wrap="square" rtlCol="0" anchor="t"/>
          <a:lstStyle/>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Introduction &amp; objectifs du projet</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Pile technologique &amp; système de build</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Architecture générale (7 modules)</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Module graphique — fenêtre, rendu, caméra</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Module cartographique — tuiles OpenStreetMap</a:t>
            </a:r>
            <a:endParaRPr lang="en-US" sz="1300" dirty="0"/>
          </a:p>
        </p:txBody>
      </p:sp>
      <p:sp>
        <p:nvSpPr>
          <p:cNvPr id="12" name="Shape 10"/>
          <p:cNvSpPr/>
          <p:nvPr/>
        </p:nvSpPr>
        <p:spPr>
          <a:xfrm>
            <a:off x="6263640" y="2057400"/>
            <a:ext cx="5074920" cy="4160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6263640" y="2057400"/>
            <a:ext cx="5074920" cy="868680"/>
          </a:xfrm>
          <a:prstGeom prst="rect">
            <a:avLst/>
          </a:prstGeom>
          <a:solidFill>
            <a:srgbClr val="16243F"/>
          </a:solidFill>
          <a:ln/>
        </p:spPr>
      </p:sp>
      <p:sp>
        <p:nvSpPr>
          <p:cNvPr id="14" name="Text 12"/>
          <p:cNvSpPr/>
          <p:nvPr/>
        </p:nvSpPr>
        <p:spPr>
          <a:xfrm>
            <a:off x="6583680" y="2148840"/>
            <a:ext cx="4434840" cy="45720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Mohammed</a:t>
            </a:r>
            <a:endParaRPr lang="en-US" sz="2200" dirty="0"/>
          </a:p>
        </p:txBody>
      </p:sp>
      <p:sp>
        <p:nvSpPr>
          <p:cNvPr id="15" name="Text 13"/>
          <p:cNvSpPr/>
          <p:nvPr/>
        </p:nvSpPr>
        <p:spPr>
          <a:xfrm>
            <a:off x="6583680" y="2560320"/>
            <a:ext cx="4434840" cy="292608"/>
          </a:xfrm>
          <a:prstGeom prst="rect">
            <a:avLst/>
          </a:prstGeom>
          <a:noFill/>
          <a:ln/>
        </p:spPr>
        <p:txBody>
          <a:bodyPr wrap="square" lIns="0" tIns="0" rIns="0" bIns="0" rtlCol="0" anchor="ctr"/>
          <a:lstStyle/>
          <a:p>
            <a:pPr indent="0" marL="0">
              <a:buNone/>
            </a:pPr>
            <a:r>
              <a:rPr lang="en-US" sz="1200" dirty="0">
                <a:solidFill>
                  <a:srgbClr val="E7ECF5"/>
                </a:solidFill>
                <a:latin typeface="Calibri" pitchFamily="34" charset="0"/>
                <a:ea typeface="Calibri" pitchFamily="34" charset="-122"/>
                <a:cs typeface="Calibri" pitchFamily="34" charset="-120"/>
              </a:rPr>
              <a:t>Partie 2 — Simulation &amp; réseau V2V</a:t>
            </a:r>
            <a:endParaRPr lang="en-US" sz="1200" dirty="0"/>
          </a:p>
        </p:txBody>
      </p:sp>
      <p:sp>
        <p:nvSpPr>
          <p:cNvPr id="16" name="Text 14"/>
          <p:cNvSpPr/>
          <p:nvPr/>
        </p:nvSpPr>
        <p:spPr>
          <a:xfrm>
            <a:off x="6629400" y="3154680"/>
            <a:ext cx="4343400" cy="2834640"/>
          </a:xfrm>
          <a:prstGeom prst="rect">
            <a:avLst/>
          </a:prstGeom>
          <a:noFill/>
          <a:ln/>
        </p:spPr>
        <p:txBody>
          <a:bodyPr wrap="square" rtlCol="0" anchor="t"/>
          <a:lstStyle/>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Graphe routier — import OSM</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Simulation du trafic &amp; recherche de chemin A*</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Systèmes de trafic — feux, accidents, densité</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Réseau V2V — liens radio &amp; diffusions</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Optimisation spatiale &amp; performance</a:t>
            </a:r>
            <a:endParaRPr lang="en-US" sz="1300" dirty="0"/>
          </a:p>
          <a:p>
            <a:pPr marL="177800" indent="-177800">
              <a:spcAft>
                <a:spcPts val="900"/>
              </a:spcAft>
              <a:buSzPct val="100000"/>
              <a:buChar char="•"/>
            </a:pPr>
            <a:r>
              <a:rPr lang="en-US" sz="1300" dirty="0">
                <a:solidFill>
                  <a:srgbClr val="3A3F4A"/>
                </a:solidFill>
                <a:latin typeface="Calibri" pitchFamily="34" charset="0"/>
                <a:ea typeface="Calibri" pitchFamily="34" charset="-122"/>
                <a:cs typeface="Calibri" pitchFamily="34" charset="-120"/>
              </a:rPr>
              <a:t>Interface ImGui &amp; météo</a:t>
            </a:r>
            <a:endParaRPr lang="en-US" sz="1300" dirty="0"/>
          </a:p>
        </p:txBody>
      </p:sp>
      <p:sp>
        <p:nvSpPr>
          <p:cNvPr id="17" name="Text 15"/>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EN UNE SLIDE</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Qu'avons-nous construit ?</a:t>
            </a:r>
            <a:endParaRPr lang="en-US" sz="2700" dirty="0"/>
          </a:p>
        </p:txBody>
      </p:sp>
      <p:sp>
        <p:nvSpPr>
          <p:cNvPr id="6" name="Text 4"/>
          <p:cNvSpPr/>
          <p:nvPr/>
        </p:nvSpPr>
        <p:spPr>
          <a:xfrm>
            <a:off x="1325880" y="1371600"/>
            <a:ext cx="10332720" cy="777240"/>
          </a:xfrm>
          <a:prstGeom prst="rect">
            <a:avLst/>
          </a:prstGeom>
          <a:noFill/>
          <a:ln/>
        </p:spPr>
        <p:txBody>
          <a:bodyPr wrap="square" rtlCol="0" anchor="ctr"/>
          <a:lstStyle/>
          <a:p>
            <a:pPr indent="0" marL="0">
              <a:buNone/>
            </a:pPr>
            <a:r>
              <a:rPr lang="en-US" sz="1350" dirty="0">
                <a:solidFill>
                  <a:srgbClr val="3A3F4A"/>
                </a:solidFill>
                <a:latin typeface="Calibri" pitchFamily="34" charset="0"/>
                <a:ea typeface="Calibri" pitchFamily="34" charset="-122"/>
                <a:cs typeface="Calibri" pitchFamily="34" charset="-120"/>
              </a:rPr>
              <a:t>V2V transforme une carte OpenStreetMap statique en un laboratoire vivant : on y observe, on y contrôle et on y mesure un trafic dense ainsi que le réseau de communication qui relie les véhicules, image par image.</a:t>
            </a:r>
            <a:endParaRPr lang="en-US" sz="1350" dirty="0"/>
          </a:p>
        </p:txBody>
      </p:sp>
      <p:sp>
        <p:nvSpPr>
          <p:cNvPr id="7" name="Shape 5"/>
          <p:cNvSpPr/>
          <p:nvPr/>
        </p:nvSpPr>
        <p:spPr>
          <a:xfrm>
            <a:off x="1325880" y="2286000"/>
            <a:ext cx="2103120" cy="1371600"/>
          </a:xfrm>
          <a:prstGeom prst="rect">
            <a:avLst/>
          </a:prstGeom>
          <a:solidFill>
            <a:srgbClr val="EEF2F8"/>
          </a:solidFill>
          <a:ln w="12700">
            <a:solidFill>
              <a:srgbClr val="C9D2E0"/>
            </a:solidFill>
            <a:prstDash val="solid"/>
          </a:ln>
        </p:spPr>
      </p:sp>
      <p:sp>
        <p:nvSpPr>
          <p:cNvPr id="8" name="Text 6"/>
          <p:cNvSpPr/>
          <p:nvPr/>
        </p:nvSpPr>
        <p:spPr>
          <a:xfrm>
            <a:off x="1325880" y="2395728"/>
            <a:ext cx="2103120" cy="713232"/>
          </a:xfrm>
          <a:prstGeom prst="rect">
            <a:avLst/>
          </a:prstGeom>
          <a:noFill/>
          <a:ln/>
        </p:spPr>
        <p:txBody>
          <a:bodyPr wrap="square" lIns="0" tIns="0" rIns="0" bIns="0" rtlCol="0" anchor="ctr"/>
          <a:lstStyle/>
          <a:p>
            <a:pPr algn="ctr" indent="0" marL="0">
              <a:buNone/>
            </a:pPr>
            <a:r>
              <a:rPr lang="en-US" sz="3000" b="1" dirty="0">
                <a:solidFill>
                  <a:srgbClr val="2D5B9E"/>
                </a:solidFill>
                <a:latin typeface="Trebuchet MS" pitchFamily="34" charset="0"/>
                <a:ea typeface="Trebuchet MS" pitchFamily="34" charset="-122"/>
                <a:cs typeface="Trebuchet MS" pitchFamily="34" charset="-120"/>
              </a:rPr>
              <a:t>8 318</a:t>
            </a:r>
            <a:endParaRPr lang="en-US" sz="3000" dirty="0"/>
          </a:p>
        </p:txBody>
      </p:sp>
      <p:sp>
        <p:nvSpPr>
          <p:cNvPr id="9" name="Text 7"/>
          <p:cNvSpPr/>
          <p:nvPr/>
        </p:nvSpPr>
        <p:spPr>
          <a:xfrm>
            <a:off x="1325880" y="3090672"/>
            <a:ext cx="2103120" cy="457200"/>
          </a:xfrm>
          <a:prstGeom prst="rect">
            <a:avLst/>
          </a:prstGeom>
          <a:noFill/>
          <a:ln/>
        </p:spPr>
        <p:txBody>
          <a:bodyPr wrap="square" lIns="0" tIns="0" rIns="0" bIns="0" rtlCol="0" anchor="ctr"/>
          <a:lstStyle/>
          <a:p>
            <a:pPr algn="ctr" indent="0" marL="0">
              <a:buNone/>
            </a:pPr>
            <a:r>
              <a:rPr lang="en-US" sz="1150" dirty="0">
                <a:solidFill>
                  <a:srgbClr val="8893A6"/>
                </a:solidFill>
                <a:latin typeface="Calibri" pitchFamily="34" charset="0"/>
                <a:ea typeface="Calibri" pitchFamily="34" charset="-122"/>
                <a:cs typeface="Calibri" pitchFamily="34" charset="-120"/>
              </a:rPr>
              <a:t>lignes de code C++</a:t>
            </a:r>
            <a:endParaRPr lang="en-US" sz="1150" dirty="0"/>
          </a:p>
        </p:txBody>
      </p:sp>
      <p:sp>
        <p:nvSpPr>
          <p:cNvPr id="10" name="Shape 8"/>
          <p:cNvSpPr/>
          <p:nvPr/>
        </p:nvSpPr>
        <p:spPr>
          <a:xfrm>
            <a:off x="3657600" y="2286000"/>
            <a:ext cx="2103120" cy="1371600"/>
          </a:xfrm>
          <a:prstGeom prst="rect">
            <a:avLst/>
          </a:prstGeom>
          <a:solidFill>
            <a:srgbClr val="EEF2F8"/>
          </a:solidFill>
          <a:ln w="12700">
            <a:solidFill>
              <a:srgbClr val="C9D2E0"/>
            </a:solidFill>
            <a:prstDash val="solid"/>
          </a:ln>
        </p:spPr>
      </p:sp>
      <p:sp>
        <p:nvSpPr>
          <p:cNvPr id="11" name="Text 9"/>
          <p:cNvSpPr/>
          <p:nvPr/>
        </p:nvSpPr>
        <p:spPr>
          <a:xfrm>
            <a:off x="3657600" y="2395728"/>
            <a:ext cx="2103120" cy="713232"/>
          </a:xfrm>
          <a:prstGeom prst="rect">
            <a:avLst/>
          </a:prstGeom>
          <a:noFill/>
          <a:ln/>
        </p:spPr>
        <p:txBody>
          <a:bodyPr wrap="square" lIns="0" tIns="0" rIns="0" bIns="0" rtlCol="0" anchor="ctr"/>
          <a:lstStyle/>
          <a:p>
            <a:pPr algn="ctr" indent="0" marL="0">
              <a:buNone/>
            </a:pPr>
            <a:r>
              <a:rPr lang="en-US" sz="3000" b="1" dirty="0">
                <a:solidFill>
                  <a:srgbClr val="2D5B9E"/>
                </a:solidFill>
                <a:latin typeface="Trebuchet MS" pitchFamily="34" charset="0"/>
                <a:ea typeface="Trebuchet MS" pitchFamily="34" charset="-122"/>
                <a:cs typeface="Trebuchet MS" pitchFamily="34" charset="-120"/>
              </a:rPr>
              <a:t>7</a:t>
            </a:r>
            <a:endParaRPr lang="en-US" sz="3000" dirty="0"/>
          </a:p>
        </p:txBody>
      </p:sp>
      <p:sp>
        <p:nvSpPr>
          <p:cNvPr id="12" name="Text 10"/>
          <p:cNvSpPr/>
          <p:nvPr/>
        </p:nvSpPr>
        <p:spPr>
          <a:xfrm>
            <a:off x="3657600" y="3090672"/>
            <a:ext cx="2103120" cy="457200"/>
          </a:xfrm>
          <a:prstGeom prst="rect">
            <a:avLst/>
          </a:prstGeom>
          <a:noFill/>
          <a:ln/>
        </p:spPr>
        <p:txBody>
          <a:bodyPr wrap="square" lIns="0" tIns="0" rIns="0" bIns="0" rtlCol="0" anchor="ctr"/>
          <a:lstStyle/>
          <a:p>
            <a:pPr algn="ctr" indent="0" marL="0">
              <a:buNone/>
            </a:pPr>
            <a:r>
              <a:rPr lang="en-US" sz="1150" dirty="0">
                <a:solidFill>
                  <a:srgbClr val="8893A6"/>
                </a:solidFill>
                <a:latin typeface="Calibri" pitchFamily="34" charset="0"/>
                <a:ea typeface="Calibri" pitchFamily="34" charset="-122"/>
                <a:cs typeface="Calibri" pitchFamily="34" charset="-120"/>
              </a:rPr>
              <a:t>modules fonctionnels</a:t>
            </a:r>
            <a:endParaRPr lang="en-US" sz="1150" dirty="0"/>
          </a:p>
        </p:txBody>
      </p:sp>
      <p:sp>
        <p:nvSpPr>
          <p:cNvPr id="13" name="Shape 11"/>
          <p:cNvSpPr/>
          <p:nvPr/>
        </p:nvSpPr>
        <p:spPr>
          <a:xfrm>
            <a:off x="5989320" y="2286000"/>
            <a:ext cx="2103120" cy="1371600"/>
          </a:xfrm>
          <a:prstGeom prst="rect">
            <a:avLst/>
          </a:prstGeom>
          <a:solidFill>
            <a:srgbClr val="EEF2F8"/>
          </a:solidFill>
          <a:ln w="12700">
            <a:solidFill>
              <a:srgbClr val="C9D2E0"/>
            </a:solidFill>
            <a:prstDash val="solid"/>
          </a:ln>
        </p:spPr>
      </p:sp>
      <p:sp>
        <p:nvSpPr>
          <p:cNvPr id="14" name="Text 12"/>
          <p:cNvSpPr/>
          <p:nvPr/>
        </p:nvSpPr>
        <p:spPr>
          <a:xfrm>
            <a:off x="5989320" y="2395728"/>
            <a:ext cx="2103120" cy="713232"/>
          </a:xfrm>
          <a:prstGeom prst="rect">
            <a:avLst/>
          </a:prstGeom>
          <a:noFill/>
          <a:ln/>
        </p:spPr>
        <p:txBody>
          <a:bodyPr wrap="square" lIns="0" tIns="0" rIns="0" bIns="0" rtlCol="0" anchor="ctr"/>
          <a:lstStyle/>
          <a:p>
            <a:pPr algn="ctr" indent="0" marL="0">
              <a:buNone/>
            </a:pPr>
            <a:r>
              <a:rPr lang="en-US" sz="3000" b="1" dirty="0">
                <a:solidFill>
                  <a:srgbClr val="2D5B9E"/>
                </a:solidFill>
                <a:latin typeface="Trebuchet MS" pitchFamily="34" charset="0"/>
                <a:ea typeface="Trebuchet MS" pitchFamily="34" charset="-122"/>
                <a:cs typeface="Trebuchet MS" pitchFamily="34" charset="-120"/>
              </a:rPr>
              <a:t>2000+</a:t>
            </a:r>
            <a:endParaRPr lang="en-US" sz="3000" dirty="0"/>
          </a:p>
        </p:txBody>
      </p:sp>
      <p:sp>
        <p:nvSpPr>
          <p:cNvPr id="15" name="Text 13"/>
          <p:cNvSpPr/>
          <p:nvPr/>
        </p:nvSpPr>
        <p:spPr>
          <a:xfrm>
            <a:off x="5989320" y="3090672"/>
            <a:ext cx="2103120" cy="457200"/>
          </a:xfrm>
          <a:prstGeom prst="rect">
            <a:avLst/>
          </a:prstGeom>
          <a:noFill/>
          <a:ln/>
        </p:spPr>
        <p:txBody>
          <a:bodyPr wrap="square" lIns="0" tIns="0" rIns="0" bIns="0" rtlCol="0" anchor="ctr"/>
          <a:lstStyle/>
          <a:p>
            <a:pPr algn="ctr" indent="0" marL="0">
              <a:buNone/>
            </a:pPr>
            <a:r>
              <a:rPr lang="en-US" sz="1150" dirty="0">
                <a:solidFill>
                  <a:srgbClr val="8893A6"/>
                </a:solidFill>
                <a:latin typeface="Calibri" pitchFamily="34" charset="0"/>
                <a:ea typeface="Calibri" pitchFamily="34" charset="-122"/>
                <a:cs typeface="Calibri" pitchFamily="34" charset="-120"/>
              </a:rPr>
              <a:t>véhicules visés à 60 i/s</a:t>
            </a:r>
            <a:endParaRPr lang="en-US" sz="1150" dirty="0"/>
          </a:p>
        </p:txBody>
      </p:sp>
      <p:sp>
        <p:nvSpPr>
          <p:cNvPr id="16" name="Shape 14"/>
          <p:cNvSpPr/>
          <p:nvPr/>
        </p:nvSpPr>
        <p:spPr>
          <a:xfrm>
            <a:off x="8321040" y="2286000"/>
            <a:ext cx="2103120" cy="1371600"/>
          </a:xfrm>
          <a:prstGeom prst="rect">
            <a:avLst/>
          </a:prstGeom>
          <a:solidFill>
            <a:srgbClr val="EEF2F8"/>
          </a:solidFill>
          <a:ln w="12700">
            <a:solidFill>
              <a:srgbClr val="C9D2E0"/>
            </a:solidFill>
            <a:prstDash val="solid"/>
          </a:ln>
        </p:spPr>
      </p:sp>
      <p:sp>
        <p:nvSpPr>
          <p:cNvPr id="17" name="Text 15"/>
          <p:cNvSpPr/>
          <p:nvPr/>
        </p:nvSpPr>
        <p:spPr>
          <a:xfrm>
            <a:off x="8321040" y="2395728"/>
            <a:ext cx="2103120" cy="713232"/>
          </a:xfrm>
          <a:prstGeom prst="rect">
            <a:avLst/>
          </a:prstGeom>
          <a:noFill/>
          <a:ln/>
        </p:spPr>
        <p:txBody>
          <a:bodyPr wrap="square" lIns="0" tIns="0" rIns="0" bIns="0" rtlCol="0" anchor="ctr"/>
          <a:lstStyle/>
          <a:p>
            <a:pPr algn="ctr" indent="0" marL="0">
              <a:buNone/>
            </a:pPr>
            <a:r>
              <a:rPr lang="en-US" sz="3000" b="1" dirty="0">
                <a:solidFill>
                  <a:srgbClr val="2D5B9E"/>
                </a:solidFill>
                <a:latin typeface="Trebuchet MS" pitchFamily="34" charset="0"/>
                <a:ea typeface="Trebuchet MS" pitchFamily="34" charset="-122"/>
                <a:cs typeface="Trebuchet MS" pitchFamily="34" charset="-120"/>
              </a:rPr>
              <a:t>5</a:t>
            </a:r>
            <a:endParaRPr lang="en-US" sz="3000" dirty="0"/>
          </a:p>
        </p:txBody>
      </p:sp>
      <p:sp>
        <p:nvSpPr>
          <p:cNvPr id="18" name="Text 16"/>
          <p:cNvSpPr/>
          <p:nvPr/>
        </p:nvSpPr>
        <p:spPr>
          <a:xfrm>
            <a:off x="8321040" y="3090672"/>
            <a:ext cx="2103120" cy="457200"/>
          </a:xfrm>
          <a:prstGeom prst="rect">
            <a:avLst/>
          </a:prstGeom>
          <a:noFill/>
          <a:ln/>
        </p:spPr>
        <p:txBody>
          <a:bodyPr wrap="square" lIns="0" tIns="0" rIns="0" bIns="0" rtlCol="0" anchor="ctr"/>
          <a:lstStyle/>
          <a:p>
            <a:pPr algn="ctr" indent="0" marL="0">
              <a:buNone/>
            </a:pPr>
            <a:r>
              <a:rPr lang="en-US" sz="1150" dirty="0">
                <a:solidFill>
                  <a:srgbClr val="8893A6"/>
                </a:solidFill>
                <a:latin typeface="Calibri" pitchFamily="34" charset="0"/>
                <a:ea typeface="Calibri" pitchFamily="34" charset="-122"/>
                <a:cs typeface="Calibri" pitchFamily="34" charset="-120"/>
              </a:rPr>
              <a:t>programmes de shaders GLSL</a:t>
            </a:r>
            <a:endParaRPr lang="en-US" sz="1150" dirty="0"/>
          </a:p>
        </p:txBody>
      </p:sp>
      <p:pic>
        <p:nvPicPr>
          <p:cNvPr id="19" name="Image 0" descr="/sessions/lucid-gifted-tesla/mnt/V2V/IMAGES/image.png">    </p:cNvPr>
          <p:cNvPicPr>
            <a:picLocks noChangeAspect="1"/>
          </p:cNvPicPr>
          <p:nvPr/>
        </p:nvPicPr>
        <p:blipFill>
          <a:blip r:embed="rId1"/>
          <a:srcRect l="0" r="0" t="0" b="0"/>
          <a:stretch/>
        </p:blipFill>
        <p:spPr>
          <a:xfrm>
            <a:off x="1325880" y="3886200"/>
            <a:ext cx="6766560" cy="2606040"/>
          </a:xfrm>
          <a:prstGeom prst="rect">
            <a:avLst/>
          </a:prstGeom>
        </p:spPr>
      </p:pic>
      <p:sp>
        <p:nvSpPr>
          <p:cNvPr id="20" name="Text 17"/>
          <p:cNvSpPr/>
          <p:nvPr/>
        </p:nvSpPr>
        <p:spPr>
          <a:xfrm>
            <a:off x="1325880" y="6446520"/>
            <a:ext cx="6766560" cy="274320"/>
          </a:xfrm>
          <a:prstGeom prst="rect">
            <a:avLst/>
          </a:prstGeom>
          <a:noFill/>
          <a:ln/>
        </p:spPr>
        <p:txBody>
          <a:bodyPr wrap="square" rtlCol="0" anchor="ctr"/>
          <a:lstStyle/>
          <a:p>
            <a:pPr indent="0" marL="0">
              <a:buNone/>
            </a:pPr>
            <a:r>
              <a:rPr lang="en-US" sz="950" i="1" dirty="0">
                <a:solidFill>
                  <a:srgbClr val="8893A6"/>
                </a:solidFill>
                <a:latin typeface="Calibri" pitchFamily="34" charset="0"/>
                <a:ea typeface="Calibri" pitchFamily="34" charset="-122"/>
                <a:cs typeface="Calibri" pitchFamily="34" charset="-120"/>
              </a:rPr>
              <a:t>Capture : graphe routier, véhicules et liens V2V en temps réel.</a:t>
            </a:r>
            <a:endParaRPr lang="en-US" sz="950" dirty="0"/>
          </a:p>
        </p:txBody>
      </p:sp>
      <p:sp>
        <p:nvSpPr>
          <p:cNvPr id="21" name="Shape 18"/>
          <p:cNvSpPr/>
          <p:nvPr/>
        </p:nvSpPr>
        <p:spPr>
          <a:xfrm>
            <a:off x="8366760" y="3886200"/>
            <a:ext cx="3383280" cy="260604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22" name="Shape 19"/>
          <p:cNvSpPr/>
          <p:nvPr/>
        </p:nvSpPr>
        <p:spPr>
          <a:xfrm>
            <a:off x="8366760" y="3886200"/>
            <a:ext cx="82296" cy="2606040"/>
          </a:xfrm>
          <a:prstGeom prst="rect">
            <a:avLst/>
          </a:prstGeom>
          <a:solidFill>
            <a:srgbClr val="D4A12A"/>
          </a:solidFill>
          <a:ln/>
        </p:spPr>
      </p:sp>
      <p:sp>
        <p:nvSpPr>
          <p:cNvPr id="23" name="Text 20"/>
          <p:cNvSpPr/>
          <p:nvPr/>
        </p:nvSpPr>
        <p:spPr>
          <a:xfrm>
            <a:off x="8604504" y="4032504"/>
            <a:ext cx="2962656" cy="231343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Objectif technique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Deux exigences ont guidé tout le projet :</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Fluidité — viser 60 images/seconde même avec un trafic très dense.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Modularité — 7 sous-systèmes indépendants, testables et extensibles séparément.</a:t>
            </a:r>
            <a:endParaRPr lang="en-US" sz="1450" dirty="0"/>
          </a:p>
        </p:txBody>
      </p:sp>
      <p:sp>
        <p:nvSpPr>
          <p:cNvPr id="24" name="Text 21"/>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43F"/>
        </a:solidFill>
      </p:bgPr>
    </p:bg>
    <p:spTree>
      <p:nvGrpSpPr>
        <p:cNvPr id="1" name=""/>
        <p:cNvGrpSpPr/>
        <p:nvPr/>
      </p:nvGrpSpPr>
      <p:grpSpPr>
        <a:xfrm>
          <a:off x="0" y="0"/>
          <a:ext cx="0" cy="0"/>
          <a:chOff x="0" y="0"/>
          <a:chExt cx="0" cy="0"/>
        </a:xfrm>
      </p:grpSpPr>
      <p:sp>
        <p:nvSpPr>
          <p:cNvPr id="2" name="Shape 0"/>
          <p:cNvSpPr/>
          <p:nvPr/>
        </p:nvSpPr>
        <p:spPr>
          <a:xfrm>
            <a:off x="8531352" y="-2286000"/>
            <a:ext cx="6400800" cy="6400800"/>
          </a:xfrm>
          <a:prstGeom prst="ellipse">
            <a:avLst/>
          </a:prstGeom>
          <a:solidFill>
            <a:srgbClr val="2D5B9E">
              <a:alpha val="20000"/>
            </a:srgbClr>
          </a:solidFill>
          <a:ln/>
        </p:spPr>
      </p:sp>
      <p:sp>
        <p:nvSpPr>
          <p:cNvPr id="3" name="Shape 1"/>
          <p:cNvSpPr/>
          <p:nvPr/>
        </p:nvSpPr>
        <p:spPr>
          <a:xfrm>
            <a:off x="868680" y="2331720"/>
            <a:ext cx="566928" cy="566928"/>
          </a:xfrm>
          <a:prstGeom prst="ellipse">
            <a:avLst/>
          </a:prstGeom>
          <a:solidFill>
            <a:srgbClr val="2D5B9E"/>
          </a:solidFill>
          <a:ln/>
          <a:effectLst>
            <a:outerShdw sx="100000" sy="100000" kx="0" ky="0" algn="bl" rotWithShape="0" blurRad="88900" dist="38100" dir="8100000">
              <a:srgbClr val="000000">
                <a:alpha val="16000"/>
              </a:srgbClr>
            </a:outerShdw>
          </a:effectLst>
        </p:spPr>
      </p:sp>
      <p:sp>
        <p:nvSpPr>
          <p:cNvPr id="4" name="Text 2"/>
          <p:cNvSpPr/>
          <p:nvPr/>
        </p:nvSpPr>
        <p:spPr>
          <a:xfrm>
            <a:off x="868680" y="23317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1</a:t>
            </a:r>
            <a:endParaRPr lang="en-US" sz="1900" dirty="0"/>
          </a:p>
        </p:txBody>
      </p:sp>
      <p:sp>
        <p:nvSpPr>
          <p:cNvPr id="5" name="Text 3"/>
          <p:cNvSpPr/>
          <p:nvPr/>
        </p:nvSpPr>
        <p:spPr>
          <a:xfrm>
            <a:off x="1691640" y="2286000"/>
            <a:ext cx="9144000" cy="365760"/>
          </a:xfrm>
          <a:prstGeom prst="rect">
            <a:avLst/>
          </a:prstGeom>
          <a:noFill/>
          <a:ln/>
        </p:spPr>
        <p:txBody>
          <a:bodyPr wrap="square" lIns="0" tIns="0" rIns="0" bIns="0" rtlCol="0" anchor="ctr"/>
          <a:lstStyle/>
          <a:p>
            <a:pPr indent="0" marL="0">
              <a:buNone/>
            </a:pPr>
            <a:r>
              <a:rPr lang="en-US" sz="1400" b="1" spc="300" kern="0" dirty="0">
                <a:solidFill>
                  <a:srgbClr val="D4A12A"/>
                </a:solidFill>
                <a:latin typeface="Calibri" pitchFamily="34" charset="0"/>
                <a:ea typeface="Calibri" pitchFamily="34" charset="-122"/>
                <a:cs typeface="Calibri" pitchFamily="34" charset="-120"/>
              </a:rPr>
              <a:t>PARTIE 1 — PRÉSENTÉE PAR MIA</a:t>
            </a:r>
            <a:endParaRPr lang="en-US" sz="1400" dirty="0"/>
          </a:p>
        </p:txBody>
      </p:sp>
      <p:sp>
        <p:nvSpPr>
          <p:cNvPr id="6" name="Text 4"/>
          <p:cNvSpPr/>
          <p:nvPr/>
        </p:nvSpPr>
        <p:spPr>
          <a:xfrm>
            <a:off x="914400" y="2880360"/>
            <a:ext cx="10332720" cy="1280160"/>
          </a:xfrm>
          <a:prstGeom prst="rect">
            <a:avLst/>
          </a:prstGeom>
          <a:noFill/>
          <a:ln/>
        </p:spPr>
        <p:txBody>
          <a:bodyPr wrap="square"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Fondations &amp; cartographie</a:t>
            </a:r>
            <a:endParaRPr lang="en-US" sz="4000" dirty="0"/>
          </a:p>
        </p:txBody>
      </p:sp>
      <p:sp>
        <p:nvSpPr>
          <p:cNvPr id="7" name="Shape 5"/>
          <p:cNvSpPr/>
          <p:nvPr/>
        </p:nvSpPr>
        <p:spPr>
          <a:xfrm>
            <a:off x="960120" y="4160520"/>
            <a:ext cx="2377440" cy="0"/>
          </a:xfrm>
          <a:prstGeom prst="line">
            <a:avLst/>
          </a:prstGeom>
          <a:noFill/>
          <a:ln w="31750">
            <a:solidFill>
              <a:srgbClr val="D4A12A"/>
            </a:solidFill>
            <a:prstDash val="solid"/>
          </a:ln>
        </p:spPr>
      </p:sp>
      <p:sp>
        <p:nvSpPr>
          <p:cNvPr id="8" name="Text 6"/>
          <p:cNvSpPr/>
          <p:nvPr/>
        </p:nvSpPr>
        <p:spPr>
          <a:xfrm>
            <a:off x="960120" y="4343400"/>
            <a:ext cx="9144000" cy="457200"/>
          </a:xfrm>
          <a:prstGeom prst="rect">
            <a:avLst/>
          </a:prstGeom>
          <a:noFill/>
          <a:ln/>
        </p:spPr>
        <p:txBody>
          <a:bodyPr wrap="square" rtlCol="0" anchor="ctr"/>
          <a:lstStyle/>
          <a:p>
            <a:pPr indent="0" marL="0">
              <a:buNone/>
            </a:pPr>
            <a:r>
              <a:rPr lang="en-US" sz="1600" dirty="0">
                <a:solidFill>
                  <a:srgbClr val="C7D2E6"/>
                </a:solidFill>
                <a:latin typeface="Calibri" pitchFamily="34" charset="0"/>
                <a:ea typeface="Calibri" pitchFamily="34" charset="-122"/>
                <a:cs typeface="Calibri" pitchFamily="34" charset="-120"/>
              </a:rPr>
              <a:t>Présenté par Mia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2D5B9E"/>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1</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INTRODUCTION</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Le projet et ses objectifs</a:t>
            </a:r>
            <a:endParaRPr lang="en-US" sz="2700" dirty="0"/>
          </a:p>
        </p:txBody>
      </p:sp>
      <p:sp>
        <p:nvSpPr>
          <p:cNvPr id="6" name="Text 4"/>
          <p:cNvSpPr/>
          <p:nvPr/>
        </p:nvSpPr>
        <p:spPr>
          <a:xfrm>
            <a:off x="1325880" y="1417320"/>
            <a:ext cx="10332720" cy="777240"/>
          </a:xfrm>
          <a:prstGeom prst="rect">
            <a:avLst/>
          </a:prstGeom>
          <a:noFill/>
          <a:ln/>
        </p:spPr>
        <p:txBody>
          <a:bodyPr wrap="square" rtlCol="0" anchor="ctr"/>
          <a:lstStyle/>
          <a:p>
            <a:pPr indent="0" marL="0">
              <a:buNone/>
            </a:pPr>
            <a:r>
              <a:rPr lang="en-US" sz="1350" dirty="0">
                <a:solidFill>
                  <a:srgbClr val="3A3F4A"/>
                </a:solidFill>
                <a:latin typeface="Calibri" pitchFamily="34" charset="0"/>
                <a:ea typeface="Calibri" pitchFamily="34" charset="-122"/>
                <a:cs typeface="Calibri" pitchFamily="34" charset="-120"/>
              </a:rPr>
              <a:t>L'application charge un extrait de carte OpenStreetMap, en extrait le graphe des rues, y fait circuler des milliers de véhicules autonomes, et affiche le réseau de liaisons radio qui s'établit dynamiquement entre les véhicules proches.</a:t>
            </a:r>
            <a:endParaRPr lang="en-US" sz="1350" dirty="0"/>
          </a:p>
        </p:txBody>
      </p:sp>
      <p:sp>
        <p:nvSpPr>
          <p:cNvPr id="7" name="Shape 5"/>
          <p:cNvSpPr/>
          <p:nvPr/>
        </p:nvSpPr>
        <p:spPr>
          <a:xfrm>
            <a:off x="1325880" y="2377440"/>
            <a:ext cx="3401568" cy="1874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8" name="Shape 6"/>
          <p:cNvSpPr/>
          <p:nvPr/>
        </p:nvSpPr>
        <p:spPr>
          <a:xfrm>
            <a:off x="1325880" y="2377440"/>
            <a:ext cx="82296" cy="1874520"/>
          </a:xfrm>
          <a:prstGeom prst="rect">
            <a:avLst/>
          </a:prstGeom>
          <a:solidFill>
            <a:srgbClr val="2D5B9E"/>
          </a:solidFill>
          <a:ln/>
        </p:spPr>
      </p:sp>
      <p:sp>
        <p:nvSpPr>
          <p:cNvPr id="9" name="Text 7"/>
          <p:cNvSpPr/>
          <p:nvPr/>
        </p:nvSpPr>
        <p:spPr>
          <a:xfrm>
            <a:off x="1563624" y="2523744"/>
            <a:ext cx="2980944" cy="15819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Ce que fait V2V</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Charge une vraie carte, simule un trafic réaliste et visualise la communication inter-véhicules en temps réel.</a:t>
            </a:r>
            <a:endParaRPr lang="en-US" sz="1450" dirty="0"/>
          </a:p>
        </p:txBody>
      </p:sp>
      <p:sp>
        <p:nvSpPr>
          <p:cNvPr id="10" name="Shape 8"/>
          <p:cNvSpPr/>
          <p:nvPr/>
        </p:nvSpPr>
        <p:spPr>
          <a:xfrm>
            <a:off x="4946904" y="2377440"/>
            <a:ext cx="3401568" cy="1874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1" name="Shape 9"/>
          <p:cNvSpPr/>
          <p:nvPr/>
        </p:nvSpPr>
        <p:spPr>
          <a:xfrm>
            <a:off x="4946904" y="2377440"/>
            <a:ext cx="82296" cy="1874520"/>
          </a:xfrm>
          <a:prstGeom prst="rect">
            <a:avLst/>
          </a:prstGeom>
          <a:solidFill>
            <a:srgbClr val="D4A12A"/>
          </a:solidFill>
          <a:ln/>
        </p:spPr>
      </p:sp>
      <p:sp>
        <p:nvSpPr>
          <p:cNvPr id="12" name="Text 10"/>
          <p:cNvSpPr/>
          <p:nvPr/>
        </p:nvSpPr>
        <p:spPr>
          <a:xfrm>
            <a:off x="5184648" y="2523744"/>
            <a:ext cx="2980944" cy="15819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Pourquoi c'est utile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Le V2V est au cœur des véhicules connectés : prévention de collision, alertes et coordination du trafic.</a:t>
            </a:r>
            <a:endParaRPr lang="en-US" sz="1450" dirty="0"/>
          </a:p>
        </p:txBody>
      </p:sp>
      <p:sp>
        <p:nvSpPr>
          <p:cNvPr id="13" name="Shape 11"/>
          <p:cNvSpPr/>
          <p:nvPr/>
        </p:nvSpPr>
        <p:spPr>
          <a:xfrm>
            <a:off x="8567928" y="2377440"/>
            <a:ext cx="3200400" cy="1874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4" name="Shape 12"/>
          <p:cNvSpPr/>
          <p:nvPr/>
        </p:nvSpPr>
        <p:spPr>
          <a:xfrm>
            <a:off x="8567928" y="2377440"/>
            <a:ext cx="82296" cy="1874520"/>
          </a:xfrm>
          <a:prstGeom prst="rect">
            <a:avLst/>
          </a:prstGeom>
          <a:solidFill>
            <a:srgbClr val="2D5B9E"/>
          </a:solidFill>
          <a:ln/>
        </p:spPr>
      </p:sp>
      <p:sp>
        <p:nvSpPr>
          <p:cNvPr id="15" name="Text 13"/>
          <p:cNvSpPr/>
          <p:nvPr/>
        </p:nvSpPr>
        <p:spPr>
          <a:xfrm>
            <a:off x="8805672" y="2523744"/>
            <a:ext cx="2779776" cy="15819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Le défi</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Rester fluide tout en simulant un grand nombre d'agents et leurs communications.</a:t>
            </a:r>
            <a:endParaRPr lang="en-US" sz="1450" dirty="0"/>
          </a:p>
        </p:txBody>
      </p:sp>
      <p:sp>
        <p:nvSpPr>
          <p:cNvPr id="16" name="Shape 14"/>
          <p:cNvSpPr/>
          <p:nvPr/>
        </p:nvSpPr>
        <p:spPr>
          <a:xfrm>
            <a:off x="1325880" y="4434840"/>
            <a:ext cx="10442448" cy="18288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1325880" y="4434840"/>
            <a:ext cx="82296" cy="1828800"/>
          </a:xfrm>
          <a:prstGeom prst="rect">
            <a:avLst/>
          </a:prstGeom>
          <a:solidFill>
            <a:srgbClr val="D4A12A"/>
          </a:solidFill>
          <a:ln/>
        </p:spPr>
      </p:sp>
      <p:sp>
        <p:nvSpPr>
          <p:cNvPr id="18" name="Text 16"/>
          <p:cNvSpPr/>
          <p:nvPr/>
        </p:nvSpPr>
        <p:spPr>
          <a:xfrm>
            <a:off x="1563624" y="4581144"/>
            <a:ext cx="10021824" cy="15361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Au-delà du noyau de simulation</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Le projet a progressivement intégré des systèmes de trafic réalistes — feux de signalisation cycliques, génération d'accidents, carte de densité — ainsi que des effets d'ambiance (pluie, brouillard) qui agissent à la fois sur le rendu et sur la physique des véhicules et des ondes radio.</a:t>
            </a:r>
            <a:endParaRPr lang="en-US" sz="1450" dirty="0"/>
          </a:p>
        </p:txBody>
      </p:sp>
      <p:sp>
        <p:nvSpPr>
          <p:cNvPr id="19" name="Text 17"/>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2D5B9E"/>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2</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TECHNOLOGIE</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Pile logicielle &amp; système de build</a:t>
            </a:r>
            <a:endParaRPr lang="en-US" sz="2700" dirty="0"/>
          </a:p>
        </p:txBody>
      </p:sp>
      <p:sp>
        <p:nvSpPr>
          <p:cNvPr id="6" name="Text 4"/>
          <p:cNvSpPr/>
          <p:nvPr/>
        </p:nvSpPr>
        <p:spPr>
          <a:xfrm>
            <a:off x="1325880" y="1417320"/>
            <a:ext cx="10332720" cy="548640"/>
          </a:xfrm>
          <a:prstGeom prst="rect">
            <a:avLst/>
          </a:prstGeom>
          <a:noFill/>
          <a:ln/>
        </p:spPr>
        <p:txBody>
          <a:bodyPr wrap="square" rtlCol="0" anchor="ctr"/>
          <a:lstStyle/>
          <a:p>
            <a:pPr indent="0" marL="0">
              <a:buNone/>
            </a:pPr>
            <a:r>
              <a:rPr lang="en-US" sz="1300" dirty="0">
                <a:solidFill>
                  <a:srgbClr val="8893A6"/>
                </a:solidFill>
                <a:latin typeface="Calibri" pitchFamily="34" charset="0"/>
                <a:ea typeface="Calibri" pitchFamily="34" charset="-122"/>
                <a:cs typeface="Calibri" pitchFamily="34" charset="-120"/>
              </a:rPr>
              <a:t>Écrit en C++20, rendu via OpenGL 3.3. Toutes les dépendances sont récupérées automatiquement par CMake (FetchContent) — aucune installation manuelle.</a:t>
            </a:r>
            <a:endParaRPr lang="en-US" sz="1300" dirty="0"/>
          </a:p>
        </p:txBody>
      </p:sp>
      <p:sp>
        <p:nvSpPr>
          <p:cNvPr id="7" name="Shape 5"/>
          <p:cNvSpPr/>
          <p:nvPr/>
        </p:nvSpPr>
        <p:spPr>
          <a:xfrm>
            <a:off x="1325880" y="2103120"/>
            <a:ext cx="6766560" cy="457200"/>
          </a:xfrm>
          <a:prstGeom prst="rect">
            <a:avLst/>
          </a:prstGeom>
          <a:solidFill>
            <a:srgbClr val="FFFFFF"/>
          </a:solidFill>
          <a:ln w="9525">
            <a:solidFill>
              <a:srgbClr val="C9D2E0"/>
            </a:solidFill>
            <a:prstDash val="solid"/>
          </a:ln>
        </p:spPr>
      </p:sp>
      <p:sp>
        <p:nvSpPr>
          <p:cNvPr id="8" name="Text 6"/>
          <p:cNvSpPr/>
          <p:nvPr/>
        </p:nvSpPr>
        <p:spPr>
          <a:xfrm>
            <a:off x="1463040" y="2103120"/>
            <a:ext cx="1783080" cy="457200"/>
          </a:xfrm>
          <a:prstGeom prst="rect">
            <a:avLst/>
          </a:prstGeom>
          <a:noFill/>
          <a:ln/>
        </p:spPr>
        <p:txBody>
          <a:bodyPr wrap="square" lIns="0" tIns="0" rIns="0" bIns="0" rtlCol="0" anchor="ctr"/>
          <a:lstStyle/>
          <a:p>
            <a:pPr indent="0" marL="0">
              <a:buNone/>
            </a:pPr>
            <a:r>
              <a:rPr lang="en-US" sz="1200" b="1" dirty="0">
                <a:solidFill>
                  <a:srgbClr val="2D5B9E"/>
                </a:solidFill>
                <a:latin typeface="Trebuchet MS" pitchFamily="34" charset="0"/>
                <a:ea typeface="Trebuchet MS" pitchFamily="34" charset="-122"/>
                <a:cs typeface="Trebuchet MS" pitchFamily="34" charset="-120"/>
              </a:rPr>
              <a:t>GLFW</a:t>
            </a:r>
            <a:endParaRPr lang="en-US" sz="1200" dirty="0"/>
          </a:p>
        </p:txBody>
      </p:sp>
      <p:sp>
        <p:nvSpPr>
          <p:cNvPr id="9" name="Text 7"/>
          <p:cNvSpPr/>
          <p:nvPr/>
        </p:nvSpPr>
        <p:spPr>
          <a:xfrm>
            <a:off x="3246120" y="2103120"/>
            <a:ext cx="4754880" cy="457200"/>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Fenêtre, contexte OpenGL, entrées clavier/souris</a:t>
            </a:r>
            <a:endParaRPr lang="en-US" sz="1100" dirty="0"/>
          </a:p>
        </p:txBody>
      </p:sp>
      <p:sp>
        <p:nvSpPr>
          <p:cNvPr id="10" name="Shape 8"/>
          <p:cNvSpPr/>
          <p:nvPr/>
        </p:nvSpPr>
        <p:spPr>
          <a:xfrm>
            <a:off x="1325880" y="2610612"/>
            <a:ext cx="6766560" cy="457200"/>
          </a:xfrm>
          <a:prstGeom prst="rect">
            <a:avLst/>
          </a:prstGeom>
          <a:solidFill>
            <a:srgbClr val="EEF2F8"/>
          </a:solidFill>
          <a:ln w="9525">
            <a:solidFill>
              <a:srgbClr val="C9D2E0"/>
            </a:solidFill>
            <a:prstDash val="solid"/>
          </a:ln>
        </p:spPr>
      </p:sp>
      <p:sp>
        <p:nvSpPr>
          <p:cNvPr id="11" name="Text 9"/>
          <p:cNvSpPr/>
          <p:nvPr/>
        </p:nvSpPr>
        <p:spPr>
          <a:xfrm>
            <a:off x="1463040" y="2610612"/>
            <a:ext cx="1783080" cy="457200"/>
          </a:xfrm>
          <a:prstGeom prst="rect">
            <a:avLst/>
          </a:prstGeom>
          <a:noFill/>
          <a:ln/>
        </p:spPr>
        <p:txBody>
          <a:bodyPr wrap="square" lIns="0" tIns="0" rIns="0" bIns="0" rtlCol="0" anchor="ctr"/>
          <a:lstStyle/>
          <a:p>
            <a:pPr indent="0" marL="0">
              <a:buNone/>
            </a:pPr>
            <a:r>
              <a:rPr lang="en-US" sz="1200" b="1" dirty="0">
                <a:solidFill>
                  <a:srgbClr val="2D5B9E"/>
                </a:solidFill>
                <a:latin typeface="Trebuchet MS" pitchFamily="34" charset="0"/>
                <a:ea typeface="Trebuchet MS" pitchFamily="34" charset="-122"/>
                <a:cs typeface="Trebuchet MS" pitchFamily="34" charset="-120"/>
              </a:rPr>
              <a:t>GLAD 2</a:t>
            </a:r>
            <a:endParaRPr lang="en-US" sz="1200" dirty="0"/>
          </a:p>
        </p:txBody>
      </p:sp>
      <p:sp>
        <p:nvSpPr>
          <p:cNvPr id="12" name="Text 10"/>
          <p:cNvSpPr/>
          <p:nvPr/>
        </p:nvSpPr>
        <p:spPr>
          <a:xfrm>
            <a:off x="3246120" y="2610612"/>
            <a:ext cx="4754880" cy="457200"/>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Chargement des fonctions OpenGL 3.3 Core</a:t>
            </a:r>
            <a:endParaRPr lang="en-US" sz="1100" dirty="0"/>
          </a:p>
        </p:txBody>
      </p:sp>
      <p:sp>
        <p:nvSpPr>
          <p:cNvPr id="13" name="Shape 11"/>
          <p:cNvSpPr/>
          <p:nvPr/>
        </p:nvSpPr>
        <p:spPr>
          <a:xfrm>
            <a:off x="1325880" y="3118104"/>
            <a:ext cx="6766560" cy="457200"/>
          </a:xfrm>
          <a:prstGeom prst="rect">
            <a:avLst/>
          </a:prstGeom>
          <a:solidFill>
            <a:srgbClr val="FFFFFF"/>
          </a:solidFill>
          <a:ln w="9525">
            <a:solidFill>
              <a:srgbClr val="C9D2E0"/>
            </a:solidFill>
            <a:prstDash val="solid"/>
          </a:ln>
        </p:spPr>
      </p:sp>
      <p:sp>
        <p:nvSpPr>
          <p:cNvPr id="14" name="Text 12"/>
          <p:cNvSpPr/>
          <p:nvPr/>
        </p:nvSpPr>
        <p:spPr>
          <a:xfrm>
            <a:off x="1463040" y="3118104"/>
            <a:ext cx="1783080" cy="457200"/>
          </a:xfrm>
          <a:prstGeom prst="rect">
            <a:avLst/>
          </a:prstGeom>
          <a:noFill/>
          <a:ln/>
        </p:spPr>
        <p:txBody>
          <a:bodyPr wrap="square" lIns="0" tIns="0" rIns="0" bIns="0" rtlCol="0" anchor="ctr"/>
          <a:lstStyle/>
          <a:p>
            <a:pPr indent="0" marL="0">
              <a:buNone/>
            </a:pPr>
            <a:r>
              <a:rPr lang="en-US" sz="1200" b="1" dirty="0">
                <a:solidFill>
                  <a:srgbClr val="2D5B9E"/>
                </a:solidFill>
                <a:latin typeface="Trebuchet MS" pitchFamily="34" charset="0"/>
                <a:ea typeface="Trebuchet MS" pitchFamily="34" charset="-122"/>
                <a:cs typeface="Trebuchet MS" pitchFamily="34" charset="-120"/>
              </a:rPr>
              <a:t>GLM</a:t>
            </a:r>
            <a:endParaRPr lang="en-US" sz="1200" dirty="0"/>
          </a:p>
        </p:txBody>
      </p:sp>
      <p:sp>
        <p:nvSpPr>
          <p:cNvPr id="15" name="Text 13"/>
          <p:cNvSpPr/>
          <p:nvPr/>
        </p:nvSpPr>
        <p:spPr>
          <a:xfrm>
            <a:off x="3246120" y="3118104"/>
            <a:ext cx="4754880" cy="457200"/>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Mathématiques : vecteurs, matrices, transformations</a:t>
            </a:r>
            <a:endParaRPr lang="en-US" sz="1100" dirty="0"/>
          </a:p>
        </p:txBody>
      </p:sp>
      <p:sp>
        <p:nvSpPr>
          <p:cNvPr id="16" name="Shape 14"/>
          <p:cNvSpPr/>
          <p:nvPr/>
        </p:nvSpPr>
        <p:spPr>
          <a:xfrm>
            <a:off x="1325880" y="3625596"/>
            <a:ext cx="6766560" cy="457200"/>
          </a:xfrm>
          <a:prstGeom prst="rect">
            <a:avLst/>
          </a:prstGeom>
          <a:solidFill>
            <a:srgbClr val="EEF2F8"/>
          </a:solidFill>
          <a:ln w="9525">
            <a:solidFill>
              <a:srgbClr val="C9D2E0"/>
            </a:solidFill>
            <a:prstDash val="solid"/>
          </a:ln>
        </p:spPr>
      </p:sp>
      <p:sp>
        <p:nvSpPr>
          <p:cNvPr id="17" name="Text 15"/>
          <p:cNvSpPr/>
          <p:nvPr/>
        </p:nvSpPr>
        <p:spPr>
          <a:xfrm>
            <a:off x="1463040" y="3625596"/>
            <a:ext cx="1783080" cy="457200"/>
          </a:xfrm>
          <a:prstGeom prst="rect">
            <a:avLst/>
          </a:prstGeom>
          <a:noFill/>
          <a:ln/>
        </p:spPr>
        <p:txBody>
          <a:bodyPr wrap="square" lIns="0" tIns="0" rIns="0" bIns="0" rtlCol="0" anchor="ctr"/>
          <a:lstStyle/>
          <a:p>
            <a:pPr indent="0" marL="0">
              <a:buNone/>
            </a:pPr>
            <a:r>
              <a:rPr lang="en-US" sz="1200" b="1" dirty="0">
                <a:solidFill>
                  <a:srgbClr val="2D5B9E"/>
                </a:solidFill>
                <a:latin typeface="Trebuchet MS" pitchFamily="34" charset="0"/>
                <a:ea typeface="Trebuchet MS" pitchFamily="34" charset="-122"/>
                <a:cs typeface="Trebuchet MS" pitchFamily="34" charset="-120"/>
              </a:rPr>
              <a:t>Dear ImGui</a:t>
            </a:r>
            <a:endParaRPr lang="en-US" sz="1200" dirty="0"/>
          </a:p>
        </p:txBody>
      </p:sp>
      <p:sp>
        <p:nvSpPr>
          <p:cNvPr id="18" name="Text 16"/>
          <p:cNvSpPr/>
          <p:nvPr/>
        </p:nvSpPr>
        <p:spPr>
          <a:xfrm>
            <a:off x="3246120" y="3625596"/>
            <a:ext cx="4754880" cy="457200"/>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Interface utilisateur (panneaux de contrôle)</a:t>
            </a:r>
            <a:endParaRPr lang="en-US" sz="1100" dirty="0"/>
          </a:p>
        </p:txBody>
      </p:sp>
      <p:sp>
        <p:nvSpPr>
          <p:cNvPr id="19" name="Shape 17"/>
          <p:cNvSpPr/>
          <p:nvPr/>
        </p:nvSpPr>
        <p:spPr>
          <a:xfrm>
            <a:off x="1325880" y="4133088"/>
            <a:ext cx="6766560" cy="457200"/>
          </a:xfrm>
          <a:prstGeom prst="rect">
            <a:avLst/>
          </a:prstGeom>
          <a:solidFill>
            <a:srgbClr val="FFFFFF"/>
          </a:solidFill>
          <a:ln w="9525">
            <a:solidFill>
              <a:srgbClr val="C9D2E0"/>
            </a:solidFill>
            <a:prstDash val="solid"/>
          </a:ln>
        </p:spPr>
      </p:sp>
      <p:sp>
        <p:nvSpPr>
          <p:cNvPr id="20" name="Text 18"/>
          <p:cNvSpPr/>
          <p:nvPr/>
        </p:nvSpPr>
        <p:spPr>
          <a:xfrm>
            <a:off x="1463040" y="4133088"/>
            <a:ext cx="1783080" cy="457200"/>
          </a:xfrm>
          <a:prstGeom prst="rect">
            <a:avLst/>
          </a:prstGeom>
          <a:noFill/>
          <a:ln/>
        </p:spPr>
        <p:txBody>
          <a:bodyPr wrap="square" lIns="0" tIns="0" rIns="0" bIns="0" rtlCol="0" anchor="ctr"/>
          <a:lstStyle/>
          <a:p>
            <a:pPr indent="0" marL="0">
              <a:buNone/>
            </a:pPr>
            <a:r>
              <a:rPr lang="en-US" sz="1200" b="1" dirty="0">
                <a:solidFill>
                  <a:srgbClr val="2D5B9E"/>
                </a:solidFill>
                <a:latin typeface="Trebuchet MS" pitchFamily="34" charset="0"/>
                <a:ea typeface="Trebuchet MS" pitchFamily="34" charset="-122"/>
                <a:cs typeface="Trebuchet MS" pitchFamily="34" charset="-120"/>
              </a:rPr>
              <a:t>stb_image</a:t>
            </a:r>
            <a:endParaRPr lang="en-US" sz="1200" dirty="0"/>
          </a:p>
        </p:txBody>
      </p:sp>
      <p:sp>
        <p:nvSpPr>
          <p:cNvPr id="21" name="Text 19"/>
          <p:cNvSpPr/>
          <p:nvPr/>
        </p:nvSpPr>
        <p:spPr>
          <a:xfrm>
            <a:off x="3246120" y="4133088"/>
            <a:ext cx="4754880" cy="457200"/>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Décodage des images PNG des tuiles</a:t>
            </a:r>
            <a:endParaRPr lang="en-US" sz="1100" dirty="0"/>
          </a:p>
        </p:txBody>
      </p:sp>
      <p:sp>
        <p:nvSpPr>
          <p:cNvPr id="22" name="Shape 20"/>
          <p:cNvSpPr/>
          <p:nvPr/>
        </p:nvSpPr>
        <p:spPr>
          <a:xfrm>
            <a:off x="1325880" y="4640580"/>
            <a:ext cx="6766560" cy="457200"/>
          </a:xfrm>
          <a:prstGeom prst="rect">
            <a:avLst/>
          </a:prstGeom>
          <a:solidFill>
            <a:srgbClr val="EEF2F8"/>
          </a:solidFill>
          <a:ln w="9525">
            <a:solidFill>
              <a:srgbClr val="C9D2E0"/>
            </a:solidFill>
            <a:prstDash val="solid"/>
          </a:ln>
        </p:spPr>
      </p:sp>
      <p:sp>
        <p:nvSpPr>
          <p:cNvPr id="23" name="Text 21"/>
          <p:cNvSpPr/>
          <p:nvPr/>
        </p:nvSpPr>
        <p:spPr>
          <a:xfrm>
            <a:off x="1463040" y="4640580"/>
            <a:ext cx="1783080" cy="457200"/>
          </a:xfrm>
          <a:prstGeom prst="rect">
            <a:avLst/>
          </a:prstGeom>
          <a:noFill/>
          <a:ln/>
        </p:spPr>
        <p:txBody>
          <a:bodyPr wrap="square" lIns="0" tIns="0" rIns="0" bIns="0" rtlCol="0" anchor="ctr"/>
          <a:lstStyle/>
          <a:p>
            <a:pPr indent="0" marL="0">
              <a:buNone/>
            </a:pPr>
            <a:r>
              <a:rPr lang="en-US" sz="1200" b="1" dirty="0">
                <a:solidFill>
                  <a:srgbClr val="2D5B9E"/>
                </a:solidFill>
                <a:latin typeface="Trebuchet MS" pitchFamily="34" charset="0"/>
                <a:ea typeface="Trebuchet MS" pitchFamily="34" charset="-122"/>
                <a:cs typeface="Trebuchet MS" pitchFamily="34" charset="-120"/>
              </a:rPr>
              <a:t>pugixml</a:t>
            </a:r>
            <a:endParaRPr lang="en-US" sz="1200" dirty="0"/>
          </a:p>
        </p:txBody>
      </p:sp>
      <p:sp>
        <p:nvSpPr>
          <p:cNvPr id="24" name="Text 22"/>
          <p:cNvSpPr/>
          <p:nvPr/>
        </p:nvSpPr>
        <p:spPr>
          <a:xfrm>
            <a:off x="3246120" y="4640580"/>
            <a:ext cx="4754880" cy="457200"/>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Analyse rapide des fichiers XML OpenStreetMap</a:t>
            </a:r>
            <a:endParaRPr lang="en-US" sz="1100" dirty="0"/>
          </a:p>
        </p:txBody>
      </p:sp>
      <p:sp>
        <p:nvSpPr>
          <p:cNvPr id="25" name="Shape 23"/>
          <p:cNvSpPr/>
          <p:nvPr/>
        </p:nvSpPr>
        <p:spPr>
          <a:xfrm>
            <a:off x="1325880" y="5148072"/>
            <a:ext cx="6766560" cy="457200"/>
          </a:xfrm>
          <a:prstGeom prst="rect">
            <a:avLst/>
          </a:prstGeom>
          <a:solidFill>
            <a:srgbClr val="FFFFFF"/>
          </a:solidFill>
          <a:ln w="9525">
            <a:solidFill>
              <a:srgbClr val="C9D2E0"/>
            </a:solidFill>
            <a:prstDash val="solid"/>
          </a:ln>
        </p:spPr>
      </p:sp>
      <p:sp>
        <p:nvSpPr>
          <p:cNvPr id="26" name="Text 24"/>
          <p:cNvSpPr/>
          <p:nvPr/>
        </p:nvSpPr>
        <p:spPr>
          <a:xfrm>
            <a:off x="1463040" y="5148072"/>
            <a:ext cx="1783080" cy="457200"/>
          </a:xfrm>
          <a:prstGeom prst="rect">
            <a:avLst/>
          </a:prstGeom>
          <a:noFill/>
          <a:ln/>
        </p:spPr>
        <p:txBody>
          <a:bodyPr wrap="square" lIns="0" tIns="0" rIns="0" bIns="0" rtlCol="0" anchor="ctr"/>
          <a:lstStyle/>
          <a:p>
            <a:pPr indent="0" marL="0">
              <a:buNone/>
            </a:pPr>
            <a:r>
              <a:rPr lang="en-US" sz="1200" b="1" dirty="0">
                <a:solidFill>
                  <a:srgbClr val="2D5B9E"/>
                </a:solidFill>
                <a:latin typeface="Trebuchet MS" pitchFamily="34" charset="0"/>
                <a:ea typeface="Trebuchet MS" pitchFamily="34" charset="-122"/>
                <a:cs typeface="Trebuchet MS" pitchFamily="34" charset="-120"/>
              </a:rPr>
              <a:t>libcurl</a:t>
            </a:r>
            <a:endParaRPr lang="en-US" sz="1200" dirty="0"/>
          </a:p>
        </p:txBody>
      </p:sp>
      <p:sp>
        <p:nvSpPr>
          <p:cNvPr id="27" name="Text 25"/>
          <p:cNvSpPr/>
          <p:nvPr/>
        </p:nvSpPr>
        <p:spPr>
          <a:xfrm>
            <a:off x="3246120" y="5148072"/>
            <a:ext cx="4754880" cy="457200"/>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Téléchargement HTTP des tuiles raster OSM</a:t>
            </a:r>
            <a:endParaRPr lang="en-US" sz="1100" dirty="0"/>
          </a:p>
        </p:txBody>
      </p:sp>
      <p:sp>
        <p:nvSpPr>
          <p:cNvPr id="28" name="Shape 26"/>
          <p:cNvSpPr/>
          <p:nvPr/>
        </p:nvSpPr>
        <p:spPr>
          <a:xfrm>
            <a:off x="8321040" y="2103120"/>
            <a:ext cx="3456432" cy="1874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29" name="Shape 27"/>
          <p:cNvSpPr/>
          <p:nvPr/>
        </p:nvSpPr>
        <p:spPr>
          <a:xfrm>
            <a:off x="8321040" y="2103120"/>
            <a:ext cx="82296" cy="1874520"/>
          </a:xfrm>
          <a:prstGeom prst="rect">
            <a:avLst/>
          </a:prstGeom>
          <a:solidFill>
            <a:srgbClr val="2D5B9E"/>
          </a:solidFill>
          <a:ln/>
        </p:spPr>
      </p:sp>
      <p:sp>
        <p:nvSpPr>
          <p:cNvPr id="30" name="Text 28"/>
          <p:cNvSpPr/>
          <p:nvPr/>
        </p:nvSpPr>
        <p:spPr>
          <a:xfrm>
            <a:off x="8558784" y="2249424"/>
            <a:ext cx="3035808" cy="15819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Compilation en 2 commandes</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cmake -B build -S .</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cmake --build build -j</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Build Release, avertissements stricts activés (-Wall -Wextra -Wpedantic).</a:t>
            </a:r>
            <a:endParaRPr lang="en-US" sz="1450" dirty="0"/>
          </a:p>
        </p:txBody>
      </p:sp>
      <p:sp>
        <p:nvSpPr>
          <p:cNvPr id="31" name="Shape 29"/>
          <p:cNvSpPr/>
          <p:nvPr/>
        </p:nvSpPr>
        <p:spPr>
          <a:xfrm>
            <a:off x="8321040" y="4114800"/>
            <a:ext cx="3456432" cy="219456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32" name="Shape 30"/>
          <p:cNvSpPr/>
          <p:nvPr/>
        </p:nvSpPr>
        <p:spPr>
          <a:xfrm>
            <a:off x="8321040" y="4114800"/>
            <a:ext cx="82296" cy="2194560"/>
          </a:xfrm>
          <a:prstGeom prst="rect">
            <a:avLst/>
          </a:prstGeom>
          <a:solidFill>
            <a:srgbClr val="D4A12A"/>
          </a:solidFill>
          <a:ln/>
        </p:spPr>
      </p:sp>
      <p:sp>
        <p:nvSpPr>
          <p:cNvPr id="33" name="Text 31"/>
          <p:cNvSpPr/>
          <p:nvPr/>
        </p:nvSpPr>
        <p:spPr>
          <a:xfrm>
            <a:off x="8558784" y="4261104"/>
            <a:ext cx="3035808" cy="190195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Pourquoi C++20 ?</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constexpr étendu pour les tables de constantes, structures compactes, et la macro __VA_OPT__ utilisée par le système de journalisation — du code moderne et sûr.</a:t>
            </a:r>
            <a:endParaRPr lang="en-US" sz="1450" dirty="0"/>
          </a:p>
        </p:txBody>
      </p:sp>
      <p:sp>
        <p:nvSpPr>
          <p:cNvPr id="34" name="Text 32"/>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2D5B9E"/>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3</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ARCHITECTURE</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Sept modules, deux responsabilités</a:t>
            </a:r>
            <a:endParaRPr lang="en-US" sz="2700" dirty="0"/>
          </a:p>
        </p:txBody>
      </p:sp>
      <p:sp>
        <p:nvSpPr>
          <p:cNvPr id="6" name="Text 4"/>
          <p:cNvSpPr/>
          <p:nvPr/>
        </p:nvSpPr>
        <p:spPr>
          <a:xfrm>
            <a:off x="1325880" y="1417320"/>
            <a:ext cx="10332720" cy="731520"/>
          </a:xfrm>
          <a:prstGeom prst="rect">
            <a:avLst/>
          </a:prstGeom>
          <a:noFill/>
          <a:ln/>
        </p:spPr>
        <p:txBody>
          <a:bodyPr wrap="square" rtlCol="0" anchor="ctr"/>
          <a:lstStyle/>
          <a:p>
            <a:pPr indent="0" marL="0">
              <a:buNone/>
            </a:pPr>
            <a:r>
              <a:rPr lang="en-US" sz="1300" dirty="0">
                <a:solidFill>
                  <a:srgbClr val="3A3F4A"/>
                </a:solidFill>
                <a:latin typeface="Calibri" pitchFamily="34" charset="0"/>
                <a:ea typeface="Calibri" pitchFamily="34" charset="-122"/>
                <a:cs typeface="Calibri" pitchFamily="34" charset="-120"/>
              </a:rPr>
              <a:t>Principe directeur : séparer l'ÉTAT (la simulation, sans aucune dépendance graphique) du RENDU (qui lit cet état pour produire des images). Le moteur peut ainsi tourner et être testé indépendamment de l'affichage.</a:t>
            </a:r>
            <a:endParaRPr lang="en-US" sz="1300" dirty="0"/>
          </a:p>
        </p:txBody>
      </p:sp>
      <p:sp>
        <p:nvSpPr>
          <p:cNvPr id="7" name="Shape 5"/>
          <p:cNvSpPr/>
          <p:nvPr/>
        </p:nvSpPr>
        <p:spPr>
          <a:xfrm>
            <a:off x="1325880" y="2240280"/>
            <a:ext cx="3310128" cy="11887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8" name="Shape 6"/>
          <p:cNvSpPr/>
          <p:nvPr/>
        </p:nvSpPr>
        <p:spPr>
          <a:xfrm>
            <a:off x="1325880" y="2240280"/>
            <a:ext cx="3310128" cy="82296"/>
          </a:xfrm>
          <a:prstGeom prst="rect">
            <a:avLst/>
          </a:prstGeom>
          <a:solidFill>
            <a:srgbClr val="2D5B9E"/>
          </a:solidFill>
          <a:ln/>
        </p:spPr>
      </p:sp>
      <p:sp>
        <p:nvSpPr>
          <p:cNvPr id="9" name="Text 7"/>
          <p:cNvSpPr/>
          <p:nvPr/>
        </p:nvSpPr>
        <p:spPr>
          <a:xfrm>
            <a:off x="1527048" y="2359152"/>
            <a:ext cx="2926080" cy="365760"/>
          </a:xfrm>
          <a:prstGeom prst="rect">
            <a:avLst/>
          </a:prstGeom>
          <a:noFill/>
          <a:ln/>
        </p:spPr>
        <p:txBody>
          <a:bodyPr wrap="square" lIns="0" tIns="0" rIns="0" bIns="0" rtlCol="0" anchor="ctr"/>
          <a:lstStyle/>
          <a:p>
            <a:pPr indent="0" marL="0">
              <a:buNone/>
            </a:pPr>
            <a:r>
              <a:rPr lang="en-US" sz="1500" b="1" dirty="0">
                <a:solidFill>
                  <a:srgbClr val="16243F"/>
                </a:solidFill>
                <a:latin typeface="Trebuchet MS" pitchFamily="34" charset="0"/>
                <a:ea typeface="Trebuchet MS" pitchFamily="34" charset="-122"/>
                <a:cs typeface="Trebuchet MS" pitchFamily="34" charset="-120"/>
              </a:rPr>
              <a:t>graphics</a:t>
            </a:r>
            <a:endParaRPr lang="en-US" sz="1500" dirty="0"/>
          </a:p>
        </p:txBody>
      </p:sp>
      <p:sp>
        <p:nvSpPr>
          <p:cNvPr id="10" name="Text 8"/>
          <p:cNvSpPr/>
          <p:nvPr/>
        </p:nvSpPr>
        <p:spPr>
          <a:xfrm>
            <a:off x="1527048" y="2697480"/>
            <a:ext cx="2926080" cy="658368"/>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Fenêtre, renderer, caméra 2D, shaders</a:t>
            </a:r>
            <a:endParaRPr lang="en-US" sz="1100" dirty="0"/>
          </a:p>
        </p:txBody>
      </p:sp>
      <p:sp>
        <p:nvSpPr>
          <p:cNvPr id="11" name="Shape 9"/>
          <p:cNvSpPr/>
          <p:nvPr/>
        </p:nvSpPr>
        <p:spPr>
          <a:xfrm>
            <a:off x="4855464" y="2240280"/>
            <a:ext cx="3310128" cy="11887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4855464" y="2240280"/>
            <a:ext cx="3310128" cy="82296"/>
          </a:xfrm>
          <a:prstGeom prst="rect">
            <a:avLst/>
          </a:prstGeom>
          <a:solidFill>
            <a:srgbClr val="2D5B9E"/>
          </a:solidFill>
          <a:ln/>
        </p:spPr>
      </p:sp>
      <p:sp>
        <p:nvSpPr>
          <p:cNvPr id="13" name="Text 11"/>
          <p:cNvSpPr/>
          <p:nvPr/>
        </p:nvSpPr>
        <p:spPr>
          <a:xfrm>
            <a:off x="5056632" y="2359152"/>
            <a:ext cx="2926080" cy="365760"/>
          </a:xfrm>
          <a:prstGeom prst="rect">
            <a:avLst/>
          </a:prstGeom>
          <a:noFill/>
          <a:ln/>
        </p:spPr>
        <p:txBody>
          <a:bodyPr wrap="square" lIns="0" tIns="0" rIns="0" bIns="0" rtlCol="0" anchor="ctr"/>
          <a:lstStyle/>
          <a:p>
            <a:pPr indent="0" marL="0">
              <a:buNone/>
            </a:pPr>
            <a:r>
              <a:rPr lang="en-US" sz="1500" b="1" dirty="0">
                <a:solidFill>
                  <a:srgbClr val="16243F"/>
                </a:solidFill>
                <a:latin typeface="Trebuchet MS" pitchFamily="34" charset="0"/>
                <a:ea typeface="Trebuchet MS" pitchFamily="34" charset="-122"/>
                <a:cs typeface="Trebuchet MS" pitchFamily="34" charset="-120"/>
              </a:rPr>
              <a:t>map</a:t>
            </a:r>
            <a:endParaRPr lang="en-US" sz="1500" dirty="0"/>
          </a:p>
        </p:txBody>
      </p:sp>
      <p:sp>
        <p:nvSpPr>
          <p:cNvPr id="14" name="Text 12"/>
          <p:cNvSpPr/>
          <p:nvPr/>
        </p:nvSpPr>
        <p:spPr>
          <a:xfrm>
            <a:off x="5056632" y="2697480"/>
            <a:ext cx="2926080" cy="658368"/>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Projection Mercator, cache &amp; chargement des tuiles</a:t>
            </a:r>
            <a:endParaRPr lang="en-US" sz="1100" dirty="0"/>
          </a:p>
        </p:txBody>
      </p:sp>
      <p:sp>
        <p:nvSpPr>
          <p:cNvPr id="15" name="Shape 13"/>
          <p:cNvSpPr/>
          <p:nvPr/>
        </p:nvSpPr>
        <p:spPr>
          <a:xfrm>
            <a:off x="8385048" y="2240280"/>
            <a:ext cx="3310128" cy="11887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6" name="Shape 14"/>
          <p:cNvSpPr/>
          <p:nvPr/>
        </p:nvSpPr>
        <p:spPr>
          <a:xfrm>
            <a:off x="8385048" y="2240280"/>
            <a:ext cx="3310128" cy="82296"/>
          </a:xfrm>
          <a:prstGeom prst="rect">
            <a:avLst/>
          </a:prstGeom>
          <a:solidFill>
            <a:srgbClr val="2D5B9E"/>
          </a:solidFill>
          <a:ln/>
        </p:spPr>
      </p:sp>
      <p:sp>
        <p:nvSpPr>
          <p:cNvPr id="17" name="Text 15"/>
          <p:cNvSpPr/>
          <p:nvPr/>
        </p:nvSpPr>
        <p:spPr>
          <a:xfrm>
            <a:off x="8586216" y="2359152"/>
            <a:ext cx="2926080" cy="365760"/>
          </a:xfrm>
          <a:prstGeom prst="rect">
            <a:avLst/>
          </a:prstGeom>
          <a:noFill/>
          <a:ln/>
        </p:spPr>
        <p:txBody>
          <a:bodyPr wrap="square" lIns="0" tIns="0" rIns="0" bIns="0" rtlCol="0" anchor="ctr"/>
          <a:lstStyle/>
          <a:p>
            <a:pPr indent="0" marL="0">
              <a:buNone/>
            </a:pPr>
            <a:r>
              <a:rPr lang="en-US" sz="1500" b="1" dirty="0">
                <a:solidFill>
                  <a:srgbClr val="16243F"/>
                </a:solidFill>
                <a:latin typeface="Trebuchet MS" pitchFamily="34" charset="0"/>
                <a:ea typeface="Trebuchet MS" pitchFamily="34" charset="-122"/>
                <a:cs typeface="Trebuchet MS" pitchFamily="34" charset="-120"/>
              </a:rPr>
              <a:t>graph</a:t>
            </a:r>
            <a:endParaRPr lang="en-US" sz="1500" dirty="0"/>
          </a:p>
        </p:txBody>
      </p:sp>
      <p:sp>
        <p:nvSpPr>
          <p:cNvPr id="18" name="Text 16"/>
          <p:cNvSpPr/>
          <p:nvPr/>
        </p:nvSpPr>
        <p:spPr>
          <a:xfrm>
            <a:off x="8586216" y="2697480"/>
            <a:ext cx="2926080" cy="658368"/>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Import OSM, graphe routier, rendu des routes</a:t>
            </a:r>
            <a:endParaRPr lang="en-US" sz="1100" dirty="0"/>
          </a:p>
        </p:txBody>
      </p:sp>
      <p:sp>
        <p:nvSpPr>
          <p:cNvPr id="19" name="Shape 17"/>
          <p:cNvSpPr/>
          <p:nvPr/>
        </p:nvSpPr>
        <p:spPr>
          <a:xfrm>
            <a:off x="1325880" y="3611880"/>
            <a:ext cx="3310128" cy="11887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20" name="Shape 18"/>
          <p:cNvSpPr/>
          <p:nvPr/>
        </p:nvSpPr>
        <p:spPr>
          <a:xfrm>
            <a:off x="1325880" y="3611880"/>
            <a:ext cx="3310128" cy="82296"/>
          </a:xfrm>
          <a:prstGeom prst="rect">
            <a:avLst/>
          </a:prstGeom>
          <a:solidFill>
            <a:srgbClr val="D4A12A"/>
          </a:solidFill>
          <a:ln/>
        </p:spPr>
      </p:sp>
      <p:sp>
        <p:nvSpPr>
          <p:cNvPr id="21" name="Text 19"/>
          <p:cNvSpPr/>
          <p:nvPr/>
        </p:nvSpPr>
        <p:spPr>
          <a:xfrm>
            <a:off x="1527048" y="3730752"/>
            <a:ext cx="2926080" cy="365760"/>
          </a:xfrm>
          <a:prstGeom prst="rect">
            <a:avLst/>
          </a:prstGeom>
          <a:noFill/>
          <a:ln/>
        </p:spPr>
        <p:txBody>
          <a:bodyPr wrap="square" lIns="0" tIns="0" rIns="0" bIns="0" rtlCol="0" anchor="ctr"/>
          <a:lstStyle/>
          <a:p>
            <a:pPr indent="0" marL="0">
              <a:buNone/>
            </a:pPr>
            <a:r>
              <a:rPr lang="en-US" sz="1500" b="1" dirty="0">
                <a:solidFill>
                  <a:srgbClr val="16243F"/>
                </a:solidFill>
                <a:latin typeface="Trebuchet MS" pitchFamily="34" charset="0"/>
                <a:ea typeface="Trebuchet MS" pitchFamily="34" charset="-122"/>
                <a:cs typeface="Trebuchet MS" pitchFamily="34" charset="-120"/>
              </a:rPr>
              <a:t>simulation</a:t>
            </a:r>
            <a:endParaRPr lang="en-US" sz="1500" dirty="0"/>
          </a:p>
        </p:txBody>
      </p:sp>
      <p:sp>
        <p:nvSpPr>
          <p:cNvPr id="22" name="Text 20"/>
          <p:cNvSpPr/>
          <p:nvPr/>
        </p:nvSpPr>
        <p:spPr>
          <a:xfrm>
            <a:off x="1527048" y="4069080"/>
            <a:ext cx="2926080" cy="658368"/>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Véhicules, A*, feux, accidents, densité</a:t>
            </a:r>
            <a:endParaRPr lang="en-US" sz="1100" dirty="0"/>
          </a:p>
        </p:txBody>
      </p:sp>
      <p:sp>
        <p:nvSpPr>
          <p:cNvPr id="23" name="Shape 21"/>
          <p:cNvSpPr/>
          <p:nvPr/>
        </p:nvSpPr>
        <p:spPr>
          <a:xfrm>
            <a:off x="4855464" y="3611880"/>
            <a:ext cx="3310128" cy="11887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24" name="Shape 22"/>
          <p:cNvSpPr/>
          <p:nvPr/>
        </p:nvSpPr>
        <p:spPr>
          <a:xfrm>
            <a:off x="4855464" y="3611880"/>
            <a:ext cx="3310128" cy="82296"/>
          </a:xfrm>
          <a:prstGeom prst="rect">
            <a:avLst/>
          </a:prstGeom>
          <a:solidFill>
            <a:srgbClr val="D4A12A"/>
          </a:solidFill>
          <a:ln/>
        </p:spPr>
      </p:sp>
      <p:sp>
        <p:nvSpPr>
          <p:cNvPr id="25" name="Text 23"/>
          <p:cNvSpPr/>
          <p:nvPr/>
        </p:nvSpPr>
        <p:spPr>
          <a:xfrm>
            <a:off x="5056632" y="3730752"/>
            <a:ext cx="2926080" cy="365760"/>
          </a:xfrm>
          <a:prstGeom prst="rect">
            <a:avLst/>
          </a:prstGeom>
          <a:noFill/>
          <a:ln/>
        </p:spPr>
        <p:txBody>
          <a:bodyPr wrap="square" lIns="0" tIns="0" rIns="0" bIns="0" rtlCol="0" anchor="ctr"/>
          <a:lstStyle/>
          <a:p>
            <a:pPr indent="0" marL="0">
              <a:buNone/>
            </a:pPr>
            <a:r>
              <a:rPr lang="en-US" sz="1500" b="1" dirty="0">
                <a:solidFill>
                  <a:srgbClr val="16243F"/>
                </a:solidFill>
                <a:latin typeface="Trebuchet MS" pitchFamily="34" charset="0"/>
                <a:ea typeface="Trebuchet MS" pitchFamily="34" charset="-122"/>
                <a:cs typeface="Trebuchet MS" pitchFamily="34" charset="-120"/>
              </a:rPr>
              <a:t>v2v</a:t>
            </a:r>
            <a:endParaRPr lang="en-US" sz="1500" dirty="0"/>
          </a:p>
        </p:txBody>
      </p:sp>
      <p:sp>
        <p:nvSpPr>
          <p:cNvPr id="26" name="Text 24"/>
          <p:cNvSpPr/>
          <p:nvPr/>
        </p:nvSpPr>
        <p:spPr>
          <a:xfrm>
            <a:off x="5056632" y="4069080"/>
            <a:ext cx="2926080" cy="658368"/>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Liens radio, modèle de signal, diffusions</a:t>
            </a:r>
            <a:endParaRPr lang="en-US" sz="1100" dirty="0"/>
          </a:p>
        </p:txBody>
      </p:sp>
      <p:sp>
        <p:nvSpPr>
          <p:cNvPr id="27" name="Shape 25"/>
          <p:cNvSpPr/>
          <p:nvPr/>
        </p:nvSpPr>
        <p:spPr>
          <a:xfrm>
            <a:off x="8385048" y="3611880"/>
            <a:ext cx="3310128" cy="11887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28" name="Shape 26"/>
          <p:cNvSpPr/>
          <p:nvPr/>
        </p:nvSpPr>
        <p:spPr>
          <a:xfrm>
            <a:off x="8385048" y="3611880"/>
            <a:ext cx="3310128" cy="82296"/>
          </a:xfrm>
          <a:prstGeom prst="rect">
            <a:avLst/>
          </a:prstGeom>
          <a:solidFill>
            <a:srgbClr val="D4A12A"/>
          </a:solidFill>
          <a:ln/>
        </p:spPr>
      </p:sp>
      <p:sp>
        <p:nvSpPr>
          <p:cNvPr id="29" name="Text 27"/>
          <p:cNvSpPr/>
          <p:nvPr/>
        </p:nvSpPr>
        <p:spPr>
          <a:xfrm>
            <a:off x="8586216" y="3730752"/>
            <a:ext cx="2926080" cy="365760"/>
          </a:xfrm>
          <a:prstGeom prst="rect">
            <a:avLst/>
          </a:prstGeom>
          <a:noFill/>
          <a:ln/>
        </p:spPr>
        <p:txBody>
          <a:bodyPr wrap="square" lIns="0" tIns="0" rIns="0" bIns="0" rtlCol="0" anchor="ctr"/>
          <a:lstStyle/>
          <a:p>
            <a:pPr indent="0" marL="0">
              <a:buNone/>
            </a:pPr>
            <a:r>
              <a:rPr lang="en-US" sz="1500" b="1" dirty="0">
                <a:solidFill>
                  <a:srgbClr val="16243F"/>
                </a:solidFill>
                <a:latin typeface="Trebuchet MS" pitchFamily="34" charset="0"/>
                <a:ea typeface="Trebuchet MS" pitchFamily="34" charset="-122"/>
                <a:cs typeface="Trebuchet MS" pitchFamily="34" charset="-120"/>
              </a:rPr>
              <a:t>ui</a:t>
            </a:r>
            <a:endParaRPr lang="en-US" sz="1500" dirty="0"/>
          </a:p>
        </p:txBody>
      </p:sp>
      <p:sp>
        <p:nvSpPr>
          <p:cNvPr id="30" name="Text 28"/>
          <p:cNvSpPr/>
          <p:nvPr/>
        </p:nvSpPr>
        <p:spPr>
          <a:xfrm>
            <a:off x="8586216" y="4069080"/>
            <a:ext cx="2926080" cy="658368"/>
          </a:xfrm>
          <a:prstGeom prst="rect">
            <a:avLst/>
          </a:prstGeom>
          <a:noFill/>
          <a:ln/>
        </p:spPr>
        <p:txBody>
          <a:bodyPr wrap="square" lIns="0" tIns="0" rIns="0" bIns="0" rtlCol="0" anchor="ctr"/>
          <a:lstStyle/>
          <a:p>
            <a:pPr indent="0" marL="0">
              <a:buNone/>
            </a:pPr>
            <a:r>
              <a:rPr lang="en-US" sz="1100" dirty="0">
                <a:solidFill>
                  <a:srgbClr val="3A3F4A"/>
                </a:solidFill>
                <a:latin typeface="Calibri" pitchFamily="34" charset="0"/>
                <a:ea typeface="Calibri" pitchFamily="34" charset="-122"/>
                <a:cs typeface="Calibri" pitchFamily="34" charset="-120"/>
              </a:rPr>
              <a:t>Panneaux ImGui de contrôle et de mesure</a:t>
            </a:r>
            <a:endParaRPr lang="en-US" sz="1100" dirty="0"/>
          </a:p>
        </p:txBody>
      </p:sp>
      <p:sp>
        <p:nvSpPr>
          <p:cNvPr id="31" name="Text 29"/>
          <p:cNvSpPr/>
          <p:nvPr/>
        </p:nvSpPr>
        <p:spPr>
          <a:xfrm>
            <a:off x="1325880" y="4864608"/>
            <a:ext cx="10332720" cy="310896"/>
          </a:xfrm>
          <a:prstGeom prst="rect">
            <a:avLst/>
          </a:prstGeom>
          <a:noFill/>
          <a:ln/>
        </p:spPr>
        <p:txBody>
          <a:bodyPr wrap="square" rtlCol="0" anchor="ctr"/>
          <a:lstStyle/>
          <a:p>
            <a:pPr indent="0" marL="0">
              <a:buNone/>
            </a:pPr>
            <a:r>
              <a:rPr lang="en-US" sz="1150" i="1" dirty="0">
                <a:solidFill>
                  <a:srgbClr val="8893A6"/>
                </a:solidFill>
                <a:latin typeface="Calibri" pitchFamily="34" charset="0"/>
                <a:ea typeface="Calibri" pitchFamily="34" charset="-122"/>
                <a:cs typeface="Calibri" pitchFamily="34" charset="-120"/>
              </a:rPr>
              <a:t>+ un module utils transversal : grille spatiale, profileur, météo, pluie, journalisation.</a:t>
            </a:r>
            <a:endParaRPr lang="en-US" sz="1150" dirty="0"/>
          </a:p>
        </p:txBody>
      </p:sp>
      <p:sp>
        <p:nvSpPr>
          <p:cNvPr id="32" name="Shape 30"/>
          <p:cNvSpPr/>
          <p:nvPr/>
        </p:nvSpPr>
        <p:spPr>
          <a:xfrm>
            <a:off x="1325880" y="5212080"/>
            <a:ext cx="10442448" cy="1078992"/>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33" name="Shape 31"/>
          <p:cNvSpPr/>
          <p:nvPr/>
        </p:nvSpPr>
        <p:spPr>
          <a:xfrm>
            <a:off x="1325880" y="5212080"/>
            <a:ext cx="82296" cy="1078992"/>
          </a:xfrm>
          <a:prstGeom prst="rect">
            <a:avLst/>
          </a:prstGeom>
          <a:solidFill>
            <a:srgbClr val="2D5B9E"/>
          </a:solidFill>
          <a:ln/>
        </p:spPr>
      </p:sp>
      <p:sp>
        <p:nvSpPr>
          <p:cNvPr id="34" name="Text 32"/>
          <p:cNvSpPr/>
          <p:nvPr/>
        </p:nvSpPr>
        <p:spPr>
          <a:xfrm>
            <a:off x="1563624" y="5358384"/>
            <a:ext cx="10021824" cy="786384"/>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La boucle principale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Chaque image enchaîne : entrées → simulation → grille spatiale → réseau V2V → rendu → interface. Un facteur de temps règle la vitesse de 0,06× à 16×.</a:t>
            </a:r>
            <a:endParaRPr lang="en-US" sz="1450" dirty="0"/>
          </a:p>
        </p:txBody>
      </p:sp>
      <p:sp>
        <p:nvSpPr>
          <p:cNvPr id="35" name="Text 33"/>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2D5B9E"/>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4</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MODULE GRAPHICS</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Fenêtre, rendu et caméra</a:t>
            </a:r>
            <a:endParaRPr lang="en-US" sz="2700" dirty="0"/>
          </a:p>
        </p:txBody>
      </p:sp>
      <p:sp>
        <p:nvSpPr>
          <p:cNvPr id="6" name="Shape 4"/>
          <p:cNvSpPr/>
          <p:nvPr/>
        </p:nvSpPr>
        <p:spPr>
          <a:xfrm>
            <a:off x="1325880" y="1508760"/>
            <a:ext cx="5120640" cy="150876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1325880" y="1508760"/>
            <a:ext cx="82296" cy="1508760"/>
          </a:xfrm>
          <a:prstGeom prst="rect">
            <a:avLst/>
          </a:prstGeom>
          <a:solidFill>
            <a:srgbClr val="2D5B9E"/>
          </a:solidFill>
          <a:ln/>
        </p:spPr>
      </p:sp>
      <p:sp>
        <p:nvSpPr>
          <p:cNvPr id="8" name="Text 6"/>
          <p:cNvSpPr/>
          <p:nvPr/>
        </p:nvSpPr>
        <p:spPr>
          <a:xfrm>
            <a:off x="1563624" y="1655064"/>
            <a:ext cx="4700016" cy="121615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Window — fenêtre &amp; contexte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Enveloppe RAII autour de GLFW. Les entrées sont transmises par fonctions de rappel, ce qui découple la boucle principale de l'API C de GLFW.</a:t>
            </a:r>
            <a:endParaRPr lang="en-US" sz="1450" dirty="0"/>
          </a:p>
        </p:txBody>
      </p:sp>
      <p:sp>
        <p:nvSpPr>
          <p:cNvPr id="9" name="Shape 7"/>
          <p:cNvSpPr/>
          <p:nvPr/>
        </p:nvSpPr>
        <p:spPr>
          <a:xfrm>
            <a:off x="6647688" y="1508760"/>
            <a:ext cx="5120640" cy="150876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647688" y="1508760"/>
            <a:ext cx="82296" cy="1508760"/>
          </a:xfrm>
          <a:prstGeom prst="rect">
            <a:avLst/>
          </a:prstGeom>
          <a:solidFill>
            <a:srgbClr val="2D5B9E"/>
          </a:solidFill>
          <a:ln/>
        </p:spPr>
      </p:sp>
      <p:sp>
        <p:nvSpPr>
          <p:cNvPr id="11" name="Text 9"/>
          <p:cNvSpPr/>
          <p:nvPr/>
        </p:nvSpPr>
        <p:spPr>
          <a:xfrm>
            <a:off x="6885432" y="1655064"/>
            <a:ext cx="4700016" cy="121615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Renderer — rendu 2D</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Détient l'état OpenGL partagé (loader, quad, shader de base). Protocole clair : beginFrame → dessins → endFrame.</a:t>
            </a:r>
            <a:endParaRPr lang="en-US" sz="1450" dirty="0"/>
          </a:p>
        </p:txBody>
      </p:sp>
      <p:sp>
        <p:nvSpPr>
          <p:cNvPr id="12" name="Shape 10"/>
          <p:cNvSpPr/>
          <p:nvPr/>
        </p:nvSpPr>
        <p:spPr>
          <a:xfrm>
            <a:off x="1325880" y="3200400"/>
            <a:ext cx="5120640" cy="178308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1325880" y="3200400"/>
            <a:ext cx="82296" cy="1783080"/>
          </a:xfrm>
          <a:prstGeom prst="rect">
            <a:avLst/>
          </a:prstGeom>
          <a:solidFill>
            <a:srgbClr val="D4A12A"/>
          </a:solidFill>
          <a:ln/>
        </p:spPr>
      </p:sp>
      <p:sp>
        <p:nvSpPr>
          <p:cNvPr id="14" name="Text 12"/>
          <p:cNvSpPr/>
          <p:nvPr/>
        </p:nvSpPr>
        <p:spPr>
          <a:xfrm>
            <a:off x="1563624" y="3346704"/>
            <a:ext cx="4700016" cy="149047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Camera2D — caméra orthographique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Déplacement et zoom ancré sur le curseur (le point sous la souris reste fixe). Conversions écran↔monde pour la sélection des véhicules.</a:t>
            </a:r>
            <a:endParaRPr lang="en-US" sz="1450" dirty="0"/>
          </a:p>
        </p:txBody>
      </p:sp>
      <p:sp>
        <p:nvSpPr>
          <p:cNvPr id="15" name="Shape 13"/>
          <p:cNvSpPr/>
          <p:nvPr/>
        </p:nvSpPr>
        <p:spPr>
          <a:xfrm>
            <a:off x="6647688" y="3200400"/>
            <a:ext cx="5120640" cy="178308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6" name="Shape 14"/>
          <p:cNvSpPr/>
          <p:nvPr/>
        </p:nvSpPr>
        <p:spPr>
          <a:xfrm>
            <a:off x="6647688" y="3200400"/>
            <a:ext cx="82296" cy="1783080"/>
          </a:xfrm>
          <a:prstGeom prst="rect">
            <a:avLst/>
          </a:prstGeom>
          <a:solidFill>
            <a:srgbClr val="2D5B9E"/>
          </a:solidFill>
          <a:ln/>
        </p:spPr>
      </p:sp>
      <p:sp>
        <p:nvSpPr>
          <p:cNvPr id="17" name="Text 15"/>
          <p:cNvSpPr/>
          <p:nvPr/>
        </p:nvSpPr>
        <p:spPr>
          <a:xfrm>
            <a:off x="6885432" y="3346704"/>
            <a:ext cx="4700016" cy="149047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Shader — programmes GLSL</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Compile et lie les programmes GLSL et met en cache les emplacements d'uniformes. Cinq programmes : basic, tile, graph, vehicle, link.</a:t>
            </a:r>
            <a:endParaRPr lang="en-US" sz="1450" dirty="0"/>
          </a:p>
        </p:txBody>
      </p:sp>
      <p:sp>
        <p:nvSpPr>
          <p:cNvPr id="18" name="Shape 16"/>
          <p:cNvSpPr/>
          <p:nvPr/>
        </p:nvSpPr>
        <p:spPr>
          <a:xfrm>
            <a:off x="1325880" y="5166360"/>
            <a:ext cx="10442448" cy="128016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9" name="Shape 17"/>
          <p:cNvSpPr/>
          <p:nvPr/>
        </p:nvSpPr>
        <p:spPr>
          <a:xfrm>
            <a:off x="1325880" y="5166360"/>
            <a:ext cx="82296" cy="1280160"/>
          </a:xfrm>
          <a:prstGeom prst="rect">
            <a:avLst/>
          </a:prstGeom>
          <a:solidFill>
            <a:srgbClr val="D4A12A"/>
          </a:solidFill>
          <a:ln/>
        </p:spPr>
      </p:sp>
      <p:sp>
        <p:nvSpPr>
          <p:cNvPr id="20" name="Text 18"/>
          <p:cNvSpPr/>
          <p:nvPr/>
        </p:nvSpPr>
        <p:spPr>
          <a:xfrm>
            <a:off x="1563624" y="5312664"/>
            <a:ext cx="10021824" cy="98755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À retenir — lissage cinématique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La caméra ne saute pas vers sa cible : elle y glisse par une interpolation exponentielle (demi-vie réglable, 200 ms par défaut). Recentrer la vue ou suivre un véhicule produit un mouvement doux et professionnel.</a:t>
            </a:r>
            <a:endParaRPr lang="en-US" sz="1450" dirty="0"/>
          </a:p>
        </p:txBody>
      </p:sp>
      <p:sp>
        <p:nvSpPr>
          <p:cNvPr id="21" name="Text 19"/>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2D5B9E"/>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5</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MODULE MAP</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Tuiles OpenStreetMap</a:t>
            </a:r>
            <a:endParaRPr lang="en-US" sz="2700" dirty="0"/>
          </a:p>
        </p:txBody>
      </p:sp>
      <p:sp>
        <p:nvSpPr>
          <p:cNvPr id="6" name="Text 4"/>
          <p:cNvSpPr/>
          <p:nvPr/>
        </p:nvSpPr>
        <p:spPr>
          <a:xfrm>
            <a:off x="1325880" y="1417320"/>
            <a:ext cx="10332720" cy="502920"/>
          </a:xfrm>
          <a:prstGeom prst="rect">
            <a:avLst/>
          </a:prstGeom>
          <a:noFill/>
          <a:ln/>
        </p:spPr>
        <p:txBody>
          <a:bodyPr wrap="square" rtlCol="0" anchor="ctr"/>
          <a:lstStyle/>
          <a:p>
            <a:pPr indent="0" marL="0">
              <a:buNone/>
            </a:pPr>
            <a:r>
              <a:rPr lang="en-US" sz="1300" dirty="0">
                <a:solidFill>
                  <a:srgbClr val="8893A6"/>
                </a:solidFill>
                <a:latin typeface="Calibri" pitchFamily="34" charset="0"/>
                <a:ea typeface="Calibri" pitchFamily="34" charset="-122"/>
                <a:cs typeface="Calibri" pitchFamily="34" charset="-120"/>
              </a:rPr>
              <a:t>Le sous-système le plus délicat : il combine projection géographique, réseau asynchrone et gestion mémoire du cache GPU.</a:t>
            </a:r>
            <a:endParaRPr lang="en-US" sz="1300" dirty="0"/>
          </a:p>
        </p:txBody>
      </p:sp>
      <p:sp>
        <p:nvSpPr>
          <p:cNvPr id="7" name="Shape 5"/>
          <p:cNvSpPr/>
          <p:nvPr/>
        </p:nvSpPr>
        <p:spPr>
          <a:xfrm>
            <a:off x="1325880" y="2057400"/>
            <a:ext cx="566928" cy="566928"/>
          </a:xfrm>
          <a:prstGeom prst="ellipse">
            <a:avLst/>
          </a:prstGeom>
          <a:solidFill>
            <a:srgbClr val="2D5B9E"/>
          </a:solidFill>
          <a:ln/>
          <a:effectLst>
            <a:outerShdw sx="100000" sy="100000" kx="0" ky="0" algn="bl" rotWithShape="0" blurRad="88900" dist="38100" dir="8100000">
              <a:srgbClr val="000000">
                <a:alpha val="16000"/>
              </a:srgbClr>
            </a:outerShdw>
          </a:effectLst>
        </p:spPr>
      </p:sp>
      <p:sp>
        <p:nvSpPr>
          <p:cNvPr id="8" name="Text 6"/>
          <p:cNvSpPr/>
          <p:nvPr/>
        </p:nvSpPr>
        <p:spPr>
          <a:xfrm>
            <a:off x="1325880" y="205740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1</a:t>
            </a:r>
            <a:endParaRPr lang="en-US" sz="1900" dirty="0"/>
          </a:p>
        </p:txBody>
      </p:sp>
      <p:sp>
        <p:nvSpPr>
          <p:cNvPr id="9" name="Shape 7"/>
          <p:cNvSpPr/>
          <p:nvPr/>
        </p:nvSpPr>
        <p:spPr>
          <a:xfrm>
            <a:off x="2103120" y="2029968"/>
            <a:ext cx="9646920" cy="868680"/>
          </a:xfrm>
          <a:prstGeom prst="rect">
            <a:avLst/>
          </a:prstGeom>
          <a:solidFill>
            <a:srgbClr val="FFFFFF"/>
          </a:solidFill>
          <a:ln w="12700">
            <a:solidFill>
              <a:srgbClr val="C9D2E0"/>
            </a:solidFill>
            <a:prstDash val="solid"/>
          </a:ln>
        </p:spPr>
      </p:sp>
      <p:sp>
        <p:nvSpPr>
          <p:cNvPr id="10" name="Text 8"/>
          <p:cNvSpPr/>
          <p:nvPr/>
        </p:nvSpPr>
        <p:spPr>
          <a:xfrm>
            <a:off x="2331720" y="2029968"/>
            <a:ext cx="2377440" cy="868680"/>
          </a:xfrm>
          <a:prstGeom prst="rect">
            <a:avLst/>
          </a:prstGeom>
          <a:noFill/>
          <a:ln/>
        </p:spPr>
        <p:txBody>
          <a:bodyPr wrap="square" lIns="0" tIns="0" rIns="0" bIns="0" rtlCol="0" anchor="ctr"/>
          <a:lstStyle/>
          <a:p>
            <a:pPr indent="0" marL="0">
              <a:buNone/>
            </a:pPr>
            <a:r>
              <a:rPr lang="en-US" sz="1400" b="1" dirty="0">
                <a:solidFill>
                  <a:srgbClr val="16243F"/>
                </a:solidFill>
                <a:latin typeface="Trebuchet MS" pitchFamily="34" charset="0"/>
                <a:ea typeface="Trebuchet MS" pitchFamily="34" charset="-122"/>
                <a:cs typeface="Trebuchet MS" pitchFamily="34" charset="-120"/>
              </a:rPr>
              <a:t>MapProjection</a:t>
            </a:r>
            <a:endParaRPr lang="en-US" sz="1400" dirty="0"/>
          </a:p>
        </p:txBody>
      </p:sp>
      <p:sp>
        <p:nvSpPr>
          <p:cNvPr id="11" name="Text 9"/>
          <p:cNvSpPr/>
          <p:nvPr/>
        </p:nvSpPr>
        <p:spPr>
          <a:xfrm>
            <a:off x="4754880" y="2029968"/>
            <a:ext cx="6812280" cy="868680"/>
          </a:xfrm>
          <a:prstGeom prst="rect">
            <a:avLst/>
          </a:prstGeom>
          <a:noFill/>
          <a:ln/>
        </p:spPr>
        <p:txBody>
          <a:bodyPr wrap="square" lIns="0" tIns="0" rIns="0" bIns="0" rtlCol="0" anchor="ctr"/>
          <a:lstStyle/>
          <a:p>
            <a:pPr indent="0" marL="0">
              <a:buNone/>
            </a:pPr>
            <a:r>
              <a:rPr lang="en-US" sz="1150" dirty="0">
                <a:solidFill>
                  <a:srgbClr val="3A3F4A"/>
                </a:solidFill>
                <a:latin typeface="Calibri" pitchFamily="34" charset="0"/>
                <a:ea typeface="Calibri" pitchFamily="34" charset="-122"/>
                <a:cs typeface="Calibri" pitchFamily="34" charset="-120"/>
              </a:rPr>
              <a:t>Projette latitude/longitude en mètres Web Mercator (EPSG:3857) et choisit le niveau de zoom OSM adapté.</a:t>
            </a:r>
            <a:endParaRPr lang="en-US" sz="1150" dirty="0"/>
          </a:p>
        </p:txBody>
      </p:sp>
      <p:sp>
        <p:nvSpPr>
          <p:cNvPr id="12" name="Shape 10"/>
          <p:cNvSpPr/>
          <p:nvPr/>
        </p:nvSpPr>
        <p:spPr>
          <a:xfrm>
            <a:off x="1325880" y="3090672"/>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13" name="Text 11"/>
          <p:cNvSpPr/>
          <p:nvPr/>
        </p:nvSpPr>
        <p:spPr>
          <a:xfrm>
            <a:off x="1325880" y="309067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2</a:t>
            </a:r>
            <a:endParaRPr lang="en-US" sz="1900" dirty="0"/>
          </a:p>
        </p:txBody>
      </p:sp>
      <p:sp>
        <p:nvSpPr>
          <p:cNvPr id="14" name="Shape 12"/>
          <p:cNvSpPr/>
          <p:nvPr/>
        </p:nvSpPr>
        <p:spPr>
          <a:xfrm>
            <a:off x="2103120" y="3063240"/>
            <a:ext cx="9646920" cy="868680"/>
          </a:xfrm>
          <a:prstGeom prst="rect">
            <a:avLst/>
          </a:prstGeom>
          <a:solidFill>
            <a:srgbClr val="EEF2F8"/>
          </a:solidFill>
          <a:ln w="12700">
            <a:solidFill>
              <a:srgbClr val="C9D2E0"/>
            </a:solidFill>
            <a:prstDash val="solid"/>
          </a:ln>
        </p:spPr>
      </p:sp>
      <p:sp>
        <p:nvSpPr>
          <p:cNvPr id="15" name="Text 13"/>
          <p:cNvSpPr/>
          <p:nvPr/>
        </p:nvSpPr>
        <p:spPr>
          <a:xfrm>
            <a:off x="2331720" y="3063240"/>
            <a:ext cx="2377440" cy="868680"/>
          </a:xfrm>
          <a:prstGeom prst="rect">
            <a:avLst/>
          </a:prstGeom>
          <a:noFill/>
          <a:ln/>
        </p:spPr>
        <p:txBody>
          <a:bodyPr wrap="square" lIns="0" tIns="0" rIns="0" bIns="0" rtlCol="0" anchor="ctr"/>
          <a:lstStyle/>
          <a:p>
            <a:pPr indent="0" marL="0">
              <a:buNone/>
            </a:pPr>
            <a:r>
              <a:rPr lang="en-US" sz="1400" b="1" dirty="0">
                <a:solidFill>
                  <a:srgbClr val="16243F"/>
                </a:solidFill>
                <a:latin typeface="Trebuchet MS" pitchFamily="34" charset="0"/>
                <a:ea typeface="Trebuchet MS" pitchFamily="34" charset="-122"/>
                <a:cs typeface="Trebuchet MS" pitchFamily="34" charset="-120"/>
              </a:rPr>
              <a:t>TileLoader</a:t>
            </a:r>
            <a:endParaRPr lang="en-US" sz="1400" dirty="0"/>
          </a:p>
        </p:txBody>
      </p:sp>
      <p:sp>
        <p:nvSpPr>
          <p:cNvPr id="16" name="Text 14"/>
          <p:cNvSpPr/>
          <p:nvPr/>
        </p:nvSpPr>
        <p:spPr>
          <a:xfrm>
            <a:off x="4754880" y="3063240"/>
            <a:ext cx="6812280" cy="868680"/>
          </a:xfrm>
          <a:prstGeom prst="rect">
            <a:avLst/>
          </a:prstGeom>
          <a:noFill/>
          <a:ln/>
        </p:spPr>
        <p:txBody>
          <a:bodyPr wrap="square" lIns="0" tIns="0" rIns="0" bIns="0" rtlCol="0" anchor="ctr"/>
          <a:lstStyle/>
          <a:p>
            <a:pPr indent="0" marL="0">
              <a:buNone/>
            </a:pPr>
            <a:r>
              <a:rPr lang="en-US" sz="1150" dirty="0">
                <a:solidFill>
                  <a:srgbClr val="3A3F4A"/>
                </a:solidFill>
                <a:latin typeface="Calibri" pitchFamily="34" charset="0"/>
                <a:ea typeface="Calibri" pitchFamily="34" charset="-122"/>
                <a:cs typeface="Calibri" pitchFamily="34" charset="-120"/>
              </a:rPr>
              <a:t>Pool de threads : télécharge les tuiles en HTTP via libcurl et décode le PNG — sans jamais bloquer l'affichage.</a:t>
            </a:r>
            <a:endParaRPr lang="en-US" sz="1150" dirty="0"/>
          </a:p>
        </p:txBody>
      </p:sp>
      <p:sp>
        <p:nvSpPr>
          <p:cNvPr id="17" name="Shape 15"/>
          <p:cNvSpPr/>
          <p:nvPr/>
        </p:nvSpPr>
        <p:spPr>
          <a:xfrm>
            <a:off x="1325880" y="4123944"/>
            <a:ext cx="566928" cy="566928"/>
          </a:xfrm>
          <a:prstGeom prst="ellipse">
            <a:avLst/>
          </a:prstGeom>
          <a:solidFill>
            <a:srgbClr val="2D5B9E"/>
          </a:solidFill>
          <a:ln/>
          <a:effectLst>
            <a:outerShdw sx="100000" sy="100000" kx="0" ky="0" algn="bl" rotWithShape="0" blurRad="88900" dist="38100" dir="8100000">
              <a:srgbClr val="000000">
                <a:alpha val="16000"/>
              </a:srgbClr>
            </a:outerShdw>
          </a:effectLst>
        </p:spPr>
      </p:sp>
      <p:sp>
        <p:nvSpPr>
          <p:cNvPr id="18" name="Text 16"/>
          <p:cNvSpPr/>
          <p:nvPr/>
        </p:nvSpPr>
        <p:spPr>
          <a:xfrm>
            <a:off x="1325880" y="4123944"/>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3</a:t>
            </a:r>
            <a:endParaRPr lang="en-US" sz="1900" dirty="0"/>
          </a:p>
        </p:txBody>
      </p:sp>
      <p:sp>
        <p:nvSpPr>
          <p:cNvPr id="19" name="Shape 17"/>
          <p:cNvSpPr/>
          <p:nvPr/>
        </p:nvSpPr>
        <p:spPr>
          <a:xfrm>
            <a:off x="2103120" y="4096512"/>
            <a:ext cx="9646920" cy="868680"/>
          </a:xfrm>
          <a:prstGeom prst="rect">
            <a:avLst/>
          </a:prstGeom>
          <a:solidFill>
            <a:srgbClr val="FFFFFF"/>
          </a:solidFill>
          <a:ln w="12700">
            <a:solidFill>
              <a:srgbClr val="C9D2E0"/>
            </a:solidFill>
            <a:prstDash val="solid"/>
          </a:ln>
        </p:spPr>
      </p:sp>
      <p:sp>
        <p:nvSpPr>
          <p:cNvPr id="20" name="Text 18"/>
          <p:cNvSpPr/>
          <p:nvPr/>
        </p:nvSpPr>
        <p:spPr>
          <a:xfrm>
            <a:off x="2331720" y="4096512"/>
            <a:ext cx="2377440" cy="868680"/>
          </a:xfrm>
          <a:prstGeom prst="rect">
            <a:avLst/>
          </a:prstGeom>
          <a:noFill/>
          <a:ln/>
        </p:spPr>
        <p:txBody>
          <a:bodyPr wrap="square" lIns="0" tIns="0" rIns="0" bIns="0" rtlCol="0" anchor="ctr"/>
          <a:lstStyle/>
          <a:p>
            <a:pPr indent="0" marL="0">
              <a:buNone/>
            </a:pPr>
            <a:r>
              <a:rPr lang="en-US" sz="1400" b="1" dirty="0">
                <a:solidFill>
                  <a:srgbClr val="16243F"/>
                </a:solidFill>
                <a:latin typeface="Trebuchet MS" pitchFamily="34" charset="0"/>
                <a:ea typeface="Trebuchet MS" pitchFamily="34" charset="-122"/>
                <a:cs typeface="Trebuchet MS" pitchFamily="34" charset="-120"/>
              </a:rPr>
              <a:t>TileCache</a:t>
            </a:r>
            <a:endParaRPr lang="en-US" sz="1400" dirty="0"/>
          </a:p>
        </p:txBody>
      </p:sp>
      <p:sp>
        <p:nvSpPr>
          <p:cNvPr id="21" name="Text 19"/>
          <p:cNvSpPr/>
          <p:nvPr/>
        </p:nvSpPr>
        <p:spPr>
          <a:xfrm>
            <a:off x="4754880" y="4096512"/>
            <a:ext cx="6812280" cy="868680"/>
          </a:xfrm>
          <a:prstGeom prst="rect">
            <a:avLst/>
          </a:prstGeom>
          <a:noFill/>
          <a:ln/>
        </p:spPr>
        <p:txBody>
          <a:bodyPr wrap="square" lIns="0" tIns="0" rIns="0" bIns="0" rtlCol="0" anchor="ctr"/>
          <a:lstStyle/>
          <a:p>
            <a:pPr indent="0" marL="0">
              <a:buNone/>
            </a:pPr>
            <a:r>
              <a:rPr lang="en-US" sz="1150" dirty="0">
                <a:solidFill>
                  <a:srgbClr val="3A3F4A"/>
                </a:solidFill>
                <a:latin typeface="Calibri" pitchFamily="34" charset="0"/>
                <a:ea typeface="Calibri" pitchFamily="34" charset="-122"/>
                <a:cs typeface="Calibri" pitchFamily="34" charset="-120"/>
              </a:rPr>
              <a:t>Cache LRU des textures GPU : évince la tuile la moins récemment utilisée quand la mémoire est pleine.</a:t>
            </a:r>
            <a:endParaRPr lang="en-US" sz="1150" dirty="0"/>
          </a:p>
        </p:txBody>
      </p:sp>
      <p:sp>
        <p:nvSpPr>
          <p:cNvPr id="22" name="Shape 20"/>
          <p:cNvSpPr/>
          <p:nvPr/>
        </p:nvSpPr>
        <p:spPr>
          <a:xfrm>
            <a:off x="1325880" y="5157216"/>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23" name="Text 21"/>
          <p:cNvSpPr/>
          <p:nvPr/>
        </p:nvSpPr>
        <p:spPr>
          <a:xfrm>
            <a:off x="1325880" y="5157216"/>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4</a:t>
            </a:r>
            <a:endParaRPr lang="en-US" sz="1900" dirty="0"/>
          </a:p>
        </p:txBody>
      </p:sp>
      <p:sp>
        <p:nvSpPr>
          <p:cNvPr id="24" name="Shape 22"/>
          <p:cNvSpPr/>
          <p:nvPr/>
        </p:nvSpPr>
        <p:spPr>
          <a:xfrm>
            <a:off x="2103120" y="5129784"/>
            <a:ext cx="9646920" cy="868680"/>
          </a:xfrm>
          <a:prstGeom prst="rect">
            <a:avLst/>
          </a:prstGeom>
          <a:solidFill>
            <a:srgbClr val="EEF2F8"/>
          </a:solidFill>
          <a:ln w="12700">
            <a:solidFill>
              <a:srgbClr val="C9D2E0"/>
            </a:solidFill>
            <a:prstDash val="solid"/>
          </a:ln>
        </p:spPr>
      </p:sp>
      <p:sp>
        <p:nvSpPr>
          <p:cNvPr id="25" name="Text 23"/>
          <p:cNvSpPr/>
          <p:nvPr/>
        </p:nvSpPr>
        <p:spPr>
          <a:xfrm>
            <a:off x="2331720" y="5129784"/>
            <a:ext cx="2377440" cy="868680"/>
          </a:xfrm>
          <a:prstGeom prst="rect">
            <a:avLst/>
          </a:prstGeom>
          <a:noFill/>
          <a:ln/>
        </p:spPr>
        <p:txBody>
          <a:bodyPr wrap="square" lIns="0" tIns="0" rIns="0" bIns="0" rtlCol="0" anchor="ctr"/>
          <a:lstStyle/>
          <a:p>
            <a:pPr indent="0" marL="0">
              <a:buNone/>
            </a:pPr>
            <a:r>
              <a:rPr lang="en-US" sz="1400" b="1" dirty="0">
                <a:solidFill>
                  <a:srgbClr val="16243F"/>
                </a:solidFill>
                <a:latin typeface="Trebuchet MS" pitchFamily="34" charset="0"/>
                <a:ea typeface="Trebuchet MS" pitchFamily="34" charset="-122"/>
                <a:cs typeface="Trebuchet MS" pitchFamily="34" charset="-120"/>
              </a:rPr>
              <a:t>TileRenderer</a:t>
            </a:r>
            <a:endParaRPr lang="en-US" sz="1400" dirty="0"/>
          </a:p>
        </p:txBody>
      </p:sp>
      <p:sp>
        <p:nvSpPr>
          <p:cNvPr id="26" name="Text 24"/>
          <p:cNvSpPr/>
          <p:nvPr/>
        </p:nvSpPr>
        <p:spPr>
          <a:xfrm>
            <a:off x="4754880" y="5129784"/>
            <a:ext cx="6812280" cy="868680"/>
          </a:xfrm>
          <a:prstGeom prst="rect">
            <a:avLst/>
          </a:prstGeom>
          <a:noFill/>
          <a:ln/>
        </p:spPr>
        <p:txBody>
          <a:bodyPr wrap="square" lIns="0" tIns="0" rIns="0" bIns="0" rtlCol="0" anchor="ctr"/>
          <a:lstStyle/>
          <a:p>
            <a:pPr indent="0" marL="0">
              <a:buNone/>
            </a:pPr>
            <a:r>
              <a:rPr lang="en-US" sz="1150" dirty="0">
                <a:solidFill>
                  <a:srgbClr val="3A3F4A"/>
                </a:solidFill>
                <a:latin typeface="Calibri" pitchFamily="34" charset="0"/>
                <a:ea typeface="Calibri" pitchFamily="34" charset="-122"/>
                <a:cs typeface="Calibri" pitchFamily="34" charset="-120"/>
              </a:rPr>
              <a:t>Calcule les tuiles visibles, interroge le cache et dessine chaque tuile prête comme un quad texturé.</a:t>
            </a:r>
            <a:endParaRPr lang="en-US" sz="1150" dirty="0"/>
          </a:p>
        </p:txBody>
      </p:sp>
      <p:sp>
        <p:nvSpPr>
          <p:cNvPr id="27" name="Text 25"/>
          <p:cNvSpPr/>
          <p:nvPr/>
        </p:nvSpPr>
        <p:spPr>
          <a:xfrm>
            <a:off x="1325880" y="6263640"/>
            <a:ext cx="10332720" cy="365760"/>
          </a:xfrm>
          <a:prstGeom prst="rect">
            <a:avLst/>
          </a:prstGeom>
          <a:noFill/>
          <a:ln/>
        </p:spPr>
        <p:txBody>
          <a:bodyPr wrap="square" rtlCol="0" anchor="ctr"/>
          <a:lstStyle/>
          <a:p>
            <a:pPr indent="0" marL="0">
              <a:buNone/>
            </a:pPr>
            <a:r>
              <a:rPr lang="en-US" sz="1100" i="1" dirty="0">
                <a:solidFill>
                  <a:srgbClr val="8893A6"/>
                </a:solidFill>
                <a:latin typeface="Calibri" pitchFamily="34" charset="0"/>
                <a:ea typeface="Calibri" pitchFamily="34" charset="-122"/>
                <a:cs typeface="Calibri" pitchFamily="34" charset="-120"/>
              </a:rPr>
              <a:t>Données fournies : mulhouse.osm (11 Mo, essais rapides) et la-rochelle.osm (299 Mo, tests de charge).</a:t>
            </a:r>
            <a:endParaRPr lang="en-US" sz="1100" dirty="0"/>
          </a:p>
        </p:txBody>
      </p:sp>
      <p:sp>
        <p:nvSpPr>
          <p:cNvPr id="28" name="Text 26"/>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43F"/>
        </a:solidFill>
      </p:bgPr>
    </p:bg>
    <p:spTree>
      <p:nvGrpSpPr>
        <p:cNvPr id="1" name=""/>
        <p:cNvGrpSpPr/>
        <p:nvPr/>
      </p:nvGrpSpPr>
      <p:grpSpPr>
        <a:xfrm>
          <a:off x="0" y="0"/>
          <a:ext cx="0" cy="0"/>
          <a:chOff x="0" y="0"/>
          <a:chExt cx="0" cy="0"/>
        </a:xfrm>
      </p:grpSpPr>
      <p:sp>
        <p:nvSpPr>
          <p:cNvPr id="2" name="Shape 0"/>
          <p:cNvSpPr/>
          <p:nvPr/>
        </p:nvSpPr>
        <p:spPr>
          <a:xfrm>
            <a:off x="8531352" y="-2286000"/>
            <a:ext cx="6400800" cy="6400800"/>
          </a:xfrm>
          <a:prstGeom prst="ellipse">
            <a:avLst/>
          </a:prstGeom>
          <a:solidFill>
            <a:srgbClr val="2D5B9E">
              <a:alpha val="20000"/>
            </a:srgbClr>
          </a:solidFill>
          <a:ln/>
        </p:spPr>
      </p:sp>
      <p:sp>
        <p:nvSpPr>
          <p:cNvPr id="3" name="Shape 1"/>
          <p:cNvSpPr/>
          <p:nvPr/>
        </p:nvSpPr>
        <p:spPr>
          <a:xfrm>
            <a:off x="868680" y="23317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4" name="Text 2"/>
          <p:cNvSpPr/>
          <p:nvPr/>
        </p:nvSpPr>
        <p:spPr>
          <a:xfrm>
            <a:off x="868680" y="23317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2</a:t>
            </a:r>
            <a:endParaRPr lang="en-US" sz="1900" dirty="0"/>
          </a:p>
        </p:txBody>
      </p:sp>
      <p:sp>
        <p:nvSpPr>
          <p:cNvPr id="5" name="Text 3"/>
          <p:cNvSpPr/>
          <p:nvPr/>
        </p:nvSpPr>
        <p:spPr>
          <a:xfrm>
            <a:off x="1691640" y="2286000"/>
            <a:ext cx="9144000" cy="365760"/>
          </a:xfrm>
          <a:prstGeom prst="rect">
            <a:avLst/>
          </a:prstGeom>
          <a:noFill/>
          <a:ln/>
        </p:spPr>
        <p:txBody>
          <a:bodyPr wrap="square" lIns="0" tIns="0" rIns="0" bIns="0" rtlCol="0" anchor="ctr"/>
          <a:lstStyle/>
          <a:p>
            <a:pPr indent="0" marL="0">
              <a:buNone/>
            </a:pPr>
            <a:r>
              <a:rPr lang="en-US" sz="1400" b="1" spc="300" kern="0" dirty="0">
                <a:solidFill>
                  <a:srgbClr val="D4A12A"/>
                </a:solidFill>
                <a:latin typeface="Calibri" pitchFamily="34" charset="0"/>
                <a:ea typeface="Calibri" pitchFamily="34" charset="-122"/>
                <a:cs typeface="Calibri" pitchFamily="34" charset="-120"/>
              </a:rPr>
              <a:t>PARTIE 2 — PRÉSENTÉE PAR MOHAMMED</a:t>
            </a:r>
            <a:endParaRPr lang="en-US" sz="1400" dirty="0"/>
          </a:p>
        </p:txBody>
      </p:sp>
      <p:sp>
        <p:nvSpPr>
          <p:cNvPr id="6" name="Text 4"/>
          <p:cNvSpPr/>
          <p:nvPr/>
        </p:nvSpPr>
        <p:spPr>
          <a:xfrm>
            <a:off x="914400" y="2880360"/>
            <a:ext cx="10332720" cy="1280160"/>
          </a:xfrm>
          <a:prstGeom prst="rect">
            <a:avLst/>
          </a:prstGeom>
          <a:noFill/>
          <a:ln/>
        </p:spPr>
        <p:txBody>
          <a:bodyPr wrap="square"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Simulation &amp; réseau V2V</a:t>
            </a:r>
            <a:endParaRPr lang="en-US" sz="4000" dirty="0"/>
          </a:p>
        </p:txBody>
      </p:sp>
      <p:sp>
        <p:nvSpPr>
          <p:cNvPr id="7" name="Shape 5"/>
          <p:cNvSpPr/>
          <p:nvPr/>
        </p:nvSpPr>
        <p:spPr>
          <a:xfrm>
            <a:off x="960120" y="4160520"/>
            <a:ext cx="2377440" cy="0"/>
          </a:xfrm>
          <a:prstGeom prst="line">
            <a:avLst/>
          </a:prstGeom>
          <a:noFill/>
          <a:ln w="31750">
            <a:solidFill>
              <a:srgbClr val="D4A12A"/>
            </a:solidFill>
            <a:prstDash val="solid"/>
          </a:ln>
        </p:spPr>
      </p:sp>
      <p:sp>
        <p:nvSpPr>
          <p:cNvPr id="8" name="Text 6"/>
          <p:cNvSpPr/>
          <p:nvPr/>
        </p:nvSpPr>
        <p:spPr>
          <a:xfrm>
            <a:off x="960120" y="4343400"/>
            <a:ext cx="9144000" cy="457200"/>
          </a:xfrm>
          <a:prstGeom prst="rect">
            <a:avLst/>
          </a:prstGeom>
          <a:noFill/>
          <a:ln/>
        </p:spPr>
        <p:txBody>
          <a:bodyPr wrap="square" rtlCol="0" anchor="ctr"/>
          <a:lstStyle/>
          <a:p>
            <a:pPr indent="0" marL="0">
              <a:buNone/>
            </a:pPr>
            <a:r>
              <a:rPr lang="en-US" sz="1600" dirty="0">
                <a:solidFill>
                  <a:srgbClr val="C7D2E6"/>
                </a:solidFill>
                <a:latin typeface="Calibri" pitchFamily="34" charset="0"/>
                <a:ea typeface="Calibri" pitchFamily="34" charset="-122"/>
                <a:cs typeface="Calibri" pitchFamily="34" charset="-120"/>
              </a:rPr>
              <a:t>Présenté par Mohammed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6</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MODULE GRAPH</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Le graphe routier</a:t>
            </a:r>
            <a:endParaRPr lang="en-US" sz="2700" dirty="0"/>
          </a:p>
        </p:txBody>
      </p:sp>
      <p:sp>
        <p:nvSpPr>
          <p:cNvPr id="6" name="Shape 4"/>
          <p:cNvSpPr/>
          <p:nvPr/>
        </p:nvSpPr>
        <p:spPr>
          <a:xfrm>
            <a:off x="1325880" y="1508760"/>
            <a:ext cx="5120640" cy="196596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1325880" y="1508760"/>
            <a:ext cx="82296" cy="1965960"/>
          </a:xfrm>
          <a:prstGeom prst="rect">
            <a:avLst/>
          </a:prstGeom>
          <a:solidFill>
            <a:srgbClr val="D4A12A"/>
          </a:solidFill>
          <a:ln/>
        </p:spPr>
      </p:sp>
      <p:sp>
        <p:nvSpPr>
          <p:cNvPr id="8" name="Text 6"/>
          <p:cNvSpPr/>
          <p:nvPr/>
        </p:nvSpPr>
        <p:spPr>
          <a:xfrm>
            <a:off x="1563624" y="1655064"/>
            <a:ext cx="4700016" cy="167335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OSMParser — lecture du fichier OSM</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Lit le XML OpenStreetMap avec pugixml. Ne garde que les voies highway=* exploitables. Les rues à double sens deviennent une paire d'arêtes dirigées ; les vitesses maxspeed remplacent les valeurs par défaut.</a:t>
            </a:r>
            <a:endParaRPr lang="en-US" sz="1450" dirty="0"/>
          </a:p>
        </p:txBody>
      </p:sp>
      <p:sp>
        <p:nvSpPr>
          <p:cNvPr id="9" name="Shape 7"/>
          <p:cNvSpPr/>
          <p:nvPr/>
        </p:nvSpPr>
        <p:spPr>
          <a:xfrm>
            <a:off x="6647688" y="1508760"/>
            <a:ext cx="5120640" cy="196596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647688" y="1508760"/>
            <a:ext cx="82296" cy="1965960"/>
          </a:xfrm>
          <a:prstGeom prst="rect">
            <a:avLst/>
          </a:prstGeom>
          <a:solidFill>
            <a:srgbClr val="2D5B9E"/>
          </a:solidFill>
          <a:ln/>
        </p:spPr>
      </p:sp>
      <p:sp>
        <p:nvSpPr>
          <p:cNvPr id="11" name="Text 9"/>
          <p:cNvSpPr/>
          <p:nvPr/>
        </p:nvSpPr>
        <p:spPr>
          <a:xfrm>
            <a:off x="6885432" y="1655064"/>
            <a:ext cx="4700016" cy="167335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RoadGraph — graphe compact</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Nœuds et arêtes en vecteurs plats indexés par entiers (localité de cache). Liste d'adjacence construite paresseusement. Vitesses par défaut : autoroute 130, primaire 80, résidentielle 30 km/h.</a:t>
            </a:r>
            <a:endParaRPr lang="en-US" sz="1450" dirty="0"/>
          </a:p>
        </p:txBody>
      </p:sp>
      <p:sp>
        <p:nvSpPr>
          <p:cNvPr id="12" name="Shape 10"/>
          <p:cNvSpPr/>
          <p:nvPr/>
        </p:nvSpPr>
        <p:spPr>
          <a:xfrm>
            <a:off x="1325880" y="3657600"/>
            <a:ext cx="5120640" cy="155448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1325880" y="3657600"/>
            <a:ext cx="82296" cy="1554480"/>
          </a:xfrm>
          <a:prstGeom prst="rect">
            <a:avLst/>
          </a:prstGeom>
          <a:solidFill>
            <a:srgbClr val="D4A12A"/>
          </a:solidFill>
          <a:ln/>
        </p:spPr>
      </p:sp>
      <p:sp>
        <p:nvSpPr>
          <p:cNvPr id="14" name="Text 12"/>
          <p:cNvSpPr/>
          <p:nvPr/>
        </p:nvSpPr>
        <p:spPr>
          <a:xfrm>
            <a:off x="1563624" y="3803904"/>
            <a:ext cx="4700016" cy="126187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GraphRenderer — rendu des routes</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Transforme le graphe en rubans de triangles colorés, calculés une seule fois (réseau statique) et dessinés en un seul appel de rendu.</a:t>
            </a:r>
            <a:endParaRPr lang="en-US" sz="1450" dirty="0"/>
          </a:p>
        </p:txBody>
      </p:sp>
      <p:sp>
        <p:nvSpPr>
          <p:cNvPr id="15" name="Shape 13"/>
          <p:cNvSpPr/>
          <p:nvPr/>
        </p:nvSpPr>
        <p:spPr>
          <a:xfrm>
            <a:off x="6647688" y="3657600"/>
            <a:ext cx="5120640" cy="155448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6" name="Shape 14"/>
          <p:cNvSpPr/>
          <p:nvPr/>
        </p:nvSpPr>
        <p:spPr>
          <a:xfrm>
            <a:off x="6647688" y="3657600"/>
            <a:ext cx="82296" cy="1554480"/>
          </a:xfrm>
          <a:prstGeom prst="rect">
            <a:avLst/>
          </a:prstGeom>
          <a:solidFill>
            <a:srgbClr val="2D5B9E"/>
          </a:solidFill>
          <a:ln/>
        </p:spPr>
      </p:sp>
      <p:sp>
        <p:nvSpPr>
          <p:cNvPr id="17" name="Text 15"/>
          <p:cNvSpPr/>
          <p:nvPr/>
        </p:nvSpPr>
        <p:spPr>
          <a:xfrm>
            <a:off x="6885432" y="3803904"/>
            <a:ext cx="4700016" cy="126187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Pourquoi un graphe ?</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C'est la structure de données qui rend possible la navigation : sans graphe, pas de recherche d'itinéraire A* ni de circulation cohérente.</a:t>
            </a:r>
            <a:endParaRPr lang="en-US" sz="1450" dirty="0"/>
          </a:p>
        </p:txBody>
      </p:sp>
      <p:sp>
        <p:nvSpPr>
          <p:cNvPr id="18" name="Shape 16"/>
          <p:cNvSpPr/>
          <p:nvPr/>
        </p:nvSpPr>
        <p:spPr>
          <a:xfrm>
            <a:off x="1325880" y="5394960"/>
            <a:ext cx="10442448" cy="105156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9" name="Shape 17"/>
          <p:cNvSpPr/>
          <p:nvPr/>
        </p:nvSpPr>
        <p:spPr>
          <a:xfrm>
            <a:off x="1325880" y="5394960"/>
            <a:ext cx="82296" cy="1051560"/>
          </a:xfrm>
          <a:prstGeom prst="rect">
            <a:avLst/>
          </a:prstGeom>
          <a:solidFill>
            <a:srgbClr val="D4A12A"/>
          </a:solidFill>
          <a:ln/>
        </p:spPr>
      </p:sp>
      <p:sp>
        <p:nvSpPr>
          <p:cNvPr id="20" name="Text 18"/>
          <p:cNvSpPr/>
          <p:nvPr/>
        </p:nvSpPr>
        <p:spPr>
          <a:xfrm>
            <a:off x="1563624" y="5541264"/>
            <a:ext cx="10021824" cy="75895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Lien avec la suite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Le graphe routier est le terrain de jeu commun : la simulation y fait rouler les véhicules, les feux y gèrent les carrefours, et la carte de densité y compte le trafic.</a:t>
            </a:r>
            <a:endParaRPr lang="en-US" sz="1450" dirty="0"/>
          </a:p>
        </p:txBody>
      </p:sp>
      <p:sp>
        <p:nvSpPr>
          <p:cNvPr id="21" name="Text 19"/>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7</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MODULE SIMULATION</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Trafic &amp; recherche de chemin A*</a:t>
            </a:r>
            <a:endParaRPr lang="en-US" sz="2700" dirty="0"/>
          </a:p>
        </p:txBody>
      </p:sp>
      <p:sp>
        <p:nvSpPr>
          <p:cNvPr id="6" name="Shape 4"/>
          <p:cNvSpPr/>
          <p:nvPr/>
        </p:nvSpPr>
        <p:spPr>
          <a:xfrm>
            <a:off x="1325880" y="1508760"/>
            <a:ext cx="5120640" cy="18288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1325880" y="1508760"/>
            <a:ext cx="82296" cy="1828800"/>
          </a:xfrm>
          <a:prstGeom prst="rect">
            <a:avLst/>
          </a:prstGeom>
          <a:solidFill>
            <a:srgbClr val="2D5B9E"/>
          </a:solidFill>
          <a:ln/>
        </p:spPr>
      </p:sp>
      <p:sp>
        <p:nvSpPr>
          <p:cNvPr id="8" name="Text 6"/>
          <p:cNvSpPr/>
          <p:nvPr/>
        </p:nvSpPr>
        <p:spPr>
          <a:xfrm>
            <a:off x="1563624" y="1655064"/>
            <a:ext cx="4700016" cy="15361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Vehicle &amp; VehiclePool</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L'état canonique d'un véhicule est le couple (arête, progression). Tous les véhicules sont rangés dans un vecteur contigu — la boucle les traverse tous à chaque image.</a:t>
            </a:r>
            <a:endParaRPr lang="en-US" sz="1450" dirty="0"/>
          </a:p>
        </p:txBody>
      </p:sp>
      <p:sp>
        <p:nvSpPr>
          <p:cNvPr id="9" name="Shape 7"/>
          <p:cNvSpPr/>
          <p:nvPr/>
        </p:nvSpPr>
        <p:spPr>
          <a:xfrm>
            <a:off x="6647688" y="1508760"/>
            <a:ext cx="5120640" cy="18288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647688" y="1508760"/>
            <a:ext cx="82296" cy="1828800"/>
          </a:xfrm>
          <a:prstGeom prst="rect">
            <a:avLst/>
          </a:prstGeom>
          <a:solidFill>
            <a:srgbClr val="D4A12A"/>
          </a:solidFill>
          <a:ln/>
        </p:spPr>
      </p:sp>
      <p:sp>
        <p:nvSpPr>
          <p:cNvPr id="11" name="Text 9"/>
          <p:cNvSpPr/>
          <p:nvPr/>
        </p:nvSpPr>
        <p:spPr>
          <a:xfrm>
            <a:off x="6885432" y="1655064"/>
            <a:ext cx="4700016" cy="15361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PathFinder — algorithme A*</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A* sur le graphe, minimisant le TEMPS de trajet. L'heuristique (distance ÷ vitesse maximale) est admissible : le chemin trouvé est le plus rapide, garanti.</a:t>
            </a:r>
            <a:endParaRPr lang="en-US" sz="1450" dirty="0"/>
          </a:p>
        </p:txBody>
      </p:sp>
      <p:sp>
        <p:nvSpPr>
          <p:cNvPr id="12" name="Shape 10"/>
          <p:cNvSpPr/>
          <p:nvPr/>
        </p:nvSpPr>
        <p:spPr>
          <a:xfrm>
            <a:off x="1325880" y="3520440"/>
            <a:ext cx="5120640" cy="1874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1325880" y="3520440"/>
            <a:ext cx="82296" cy="1874520"/>
          </a:xfrm>
          <a:prstGeom prst="rect">
            <a:avLst/>
          </a:prstGeom>
          <a:solidFill>
            <a:srgbClr val="2D5B9E"/>
          </a:solidFill>
          <a:ln/>
        </p:spPr>
      </p:sp>
      <p:sp>
        <p:nvSpPr>
          <p:cNvPr id="14" name="Text 12"/>
          <p:cNvSpPr/>
          <p:nvPr/>
        </p:nvSpPr>
        <p:spPr>
          <a:xfrm>
            <a:off x="1563624" y="3666744"/>
            <a:ext cx="4700016" cy="15819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SimulationEngine — moteur de pas</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Fait avancer tous les véhicules à chaque step(dt). Itinéraire épuisé → marche aléatoire + requête A* mise en file.</a:t>
            </a:r>
            <a:endParaRPr lang="en-US" sz="1450" dirty="0"/>
          </a:p>
        </p:txBody>
      </p:sp>
      <p:sp>
        <p:nvSpPr>
          <p:cNvPr id="15" name="Shape 13"/>
          <p:cNvSpPr/>
          <p:nvPr/>
        </p:nvSpPr>
        <p:spPr>
          <a:xfrm>
            <a:off x="6647688" y="3520440"/>
            <a:ext cx="5120640" cy="1874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6" name="Shape 14"/>
          <p:cNvSpPr/>
          <p:nvPr/>
        </p:nvSpPr>
        <p:spPr>
          <a:xfrm>
            <a:off x="6647688" y="3520440"/>
            <a:ext cx="82296" cy="1874520"/>
          </a:xfrm>
          <a:prstGeom prst="rect">
            <a:avLst/>
          </a:prstGeom>
          <a:solidFill>
            <a:srgbClr val="D4A12A"/>
          </a:solidFill>
          <a:ln/>
        </p:spPr>
      </p:sp>
      <p:sp>
        <p:nvSpPr>
          <p:cNvPr id="17" name="Text 15"/>
          <p:cNvSpPr/>
          <p:nvPr/>
        </p:nvSpPr>
        <p:spPr>
          <a:xfrm>
            <a:off x="6885432" y="3666744"/>
            <a:ext cx="4700016" cy="15819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Astuce de performance clé</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Le moteur plafonne le nombre de recherches A* par image (32 par défaut) : les pics de calcul sont lissés et le temps d'image reste borné, même à 2000 véhicules.</a:t>
            </a:r>
            <a:endParaRPr lang="en-US" sz="1450" dirty="0"/>
          </a:p>
        </p:txBody>
      </p:sp>
      <p:sp>
        <p:nvSpPr>
          <p:cNvPr id="18" name="Shape 16"/>
          <p:cNvSpPr/>
          <p:nvPr/>
        </p:nvSpPr>
        <p:spPr>
          <a:xfrm>
            <a:off x="1325880" y="5577840"/>
            <a:ext cx="10442448" cy="86868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9" name="Shape 17"/>
          <p:cNvSpPr/>
          <p:nvPr/>
        </p:nvSpPr>
        <p:spPr>
          <a:xfrm>
            <a:off x="1325880" y="5577840"/>
            <a:ext cx="82296" cy="868680"/>
          </a:xfrm>
          <a:prstGeom prst="rect">
            <a:avLst/>
          </a:prstGeom>
          <a:solidFill>
            <a:srgbClr val="2D5B9E"/>
          </a:solidFill>
          <a:ln/>
        </p:spPr>
      </p:sp>
      <p:sp>
        <p:nvSpPr>
          <p:cNvPr id="20" name="Text 18"/>
          <p:cNvSpPr/>
          <p:nvPr/>
        </p:nvSpPr>
        <p:spPr>
          <a:xfrm>
            <a:off x="1563624" y="5724144"/>
            <a:ext cx="10021824" cy="57607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Anti-collision</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À chaque pas, le moteur calcule la distance au véhicule précédent sur chaque arête : la vitesse est bridée pour éviter que les véhicules ne se traversent.</a:t>
            </a:r>
            <a:endParaRPr lang="en-US" sz="1450" dirty="0"/>
          </a:p>
        </p:txBody>
      </p:sp>
      <p:sp>
        <p:nvSpPr>
          <p:cNvPr id="21" name="Text 19"/>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8</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MODULE SIMULATION</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Systèmes de trafic réalistes</a:t>
            </a:r>
            <a:endParaRPr lang="en-US" sz="2700" dirty="0"/>
          </a:p>
        </p:txBody>
      </p:sp>
      <p:sp>
        <p:nvSpPr>
          <p:cNvPr id="6" name="Text 4"/>
          <p:cNvSpPr/>
          <p:nvPr/>
        </p:nvSpPr>
        <p:spPr>
          <a:xfrm>
            <a:off x="1325880" y="1417320"/>
            <a:ext cx="10332720" cy="457200"/>
          </a:xfrm>
          <a:prstGeom prst="rect">
            <a:avLst/>
          </a:prstGeom>
          <a:noFill/>
          <a:ln/>
        </p:spPr>
        <p:txBody>
          <a:bodyPr wrap="square" rtlCol="0" anchor="ctr"/>
          <a:lstStyle/>
          <a:p>
            <a:pPr indent="0" marL="0">
              <a:buNone/>
            </a:pPr>
            <a:r>
              <a:rPr lang="en-US" sz="1300" dirty="0">
                <a:solidFill>
                  <a:srgbClr val="8893A6"/>
                </a:solidFill>
                <a:latin typeface="Calibri" pitchFamily="34" charset="0"/>
                <a:ea typeface="Calibri" pitchFamily="34" charset="-122"/>
                <a:cs typeface="Calibri" pitchFamily="34" charset="-120"/>
              </a:rPr>
              <a:t>Trois systèmes ajoutent du réalisme et de la dynamique par-dessus le moteur de base.</a:t>
            </a:r>
            <a:endParaRPr lang="en-US" sz="1300" dirty="0"/>
          </a:p>
        </p:txBody>
      </p:sp>
      <p:sp>
        <p:nvSpPr>
          <p:cNvPr id="7" name="Shape 5"/>
          <p:cNvSpPr/>
          <p:nvPr/>
        </p:nvSpPr>
        <p:spPr>
          <a:xfrm>
            <a:off x="1325880" y="2057400"/>
            <a:ext cx="3310128" cy="32461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8" name="Shape 6"/>
          <p:cNvSpPr/>
          <p:nvPr/>
        </p:nvSpPr>
        <p:spPr>
          <a:xfrm>
            <a:off x="1325880" y="2057400"/>
            <a:ext cx="3310128" cy="658368"/>
          </a:xfrm>
          <a:prstGeom prst="rect">
            <a:avLst/>
          </a:prstGeom>
          <a:solidFill>
            <a:srgbClr val="2D5B9E"/>
          </a:solidFill>
          <a:ln/>
        </p:spPr>
      </p:sp>
      <p:sp>
        <p:nvSpPr>
          <p:cNvPr id="9" name="Text 7"/>
          <p:cNvSpPr/>
          <p:nvPr/>
        </p:nvSpPr>
        <p:spPr>
          <a:xfrm>
            <a:off x="1527048" y="2057400"/>
            <a:ext cx="2926080" cy="658368"/>
          </a:xfrm>
          <a:prstGeom prst="rect">
            <a:avLst/>
          </a:prstGeom>
          <a:noFill/>
          <a:ln/>
        </p:spPr>
        <p:txBody>
          <a:bodyPr wrap="square" lIns="0" tIns="0" rIns="0" bIns="0" rtlCol="0" anchor="ctr"/>
          <a:lstStyle/>
          <a:p>
            <a:pPr indent="0" marL="0">
              <a:buNone/>
            </a:pPr>
            <a:r>
              <a:rPr lang="en-US" sz="1450" b="1" dirty="0">
                <a:solidFill>
                  <a:srgbClr val="FFFFFF"/>
                </a:solidFill>
                <a:latin typeface="Trebuchet MS" pitchFamily="34" charset="0"/>
                <a:ea typeface="Trebuchet MS" pitchFamily="34" charset="-122"/>
                <a:cs typeface="Trebuchet MS" pitchFamily="34" charset="-120"/>
              </a:rPr>
              <a:t>Feux de signalisation</a:t>
            </a:r>
            <a:endParaRPr lang="en-US" sz="1450" dirty="0"/>
          </a:p>
        </p:txBody>
      </p:sp>
      <p:sp>
        <p:nvSpPr>
          <p:cNvPr id="10" name="Text 8"/>
          <p:cNvSpPr/>
          <p:nvPr/>
        </p:nvSpPr>
        <p:spPr>
          <a:xfrm>
            <a:off x="1527048" y="2788920"/>
            <a:ext cx="2926080" cy="310896"/>
          </a:xfrm>
          <a:prstGeom prst="rect">
            <a:avLst/>
          </a:prstGeom>
          <a:noFill/>
          <a:ln/>
        </p:spPr>
        <p:txBody>
          <a:bodyPr wrap="square" lIns="0" tIns="0" rIns="0" bIns="0" rtlCol="0" anchor="ctr"/>
          <a:lstStyle/>
          <a:p>
            <a:pPr indent="0" marL="0">
              <a:buNone/>
            </a:pPr>
            <a:r>
              <a:rPr lang="en-US" sz="1050" i="1" dirty="0">
                <a:solidFill>
                  <a:srgbClr val="D4A12A"/>
                </a:solidFill>
                <a:latin typeface="Calibri" pitchFamily="34" charset="0"/>
                <a:ea typeface="Calibri" pitchFamily="34" charset="-122"/>
                <a:cs typeface="Calibri" pitchFamily="34" charset="-120"/>
              </a:rPr>
              <a:t>TrafficLightSystem</a:t>
            </a:r>
            <a:endParaRPr lang="en-US" sz="1050" dirty="0"/>
          </a:p>
        </p:txBody>
      </p:sp>
      <p:sp>
        <p:nvSpPr>
          <p:cNvPr id="11" name="Text 9"/>
          <p:cNvSpPr/>
          <p:nvPr/>
        </p:nvSpPr>
        <p:spPr>
          <a:xfrm>
            <a:off x="1527048" y="3127248"/>
            <a:ext cx="2944368" cy="2011680"/>
          </a:xfrm>
          <a:prstGeom prst="rect">
            <a:avLst/>
          </a:prstGeom>
          <a:noFill/>
          <a:ln/>
        </p:spPr>
        <p:txBody>
          <a:bodyPr wrap="square" lIns="0" tIns="0" rIns="0" bIns="0" rtlCol="0" anchor="t"/>
          <a:lstStyle/>
          <a:p>
            <a:pPr indent="0" marL="0">
              <a:buNone/>
            </a:pPr>
            <a:r>
              <a:rPr lang="en-US" sz="1200" dirty="0">
                <a:solidFill>
                  <a:srgbClr val="3A3F4A"/>
                </a:solidFill>
                <a:latin typeface="Calibri" pitchFamily="34" charset="0"/>
                <a:ea typeface="Calibri" pitchFamily="34" charset="-122"/>
                <a:cs typeface="Calibri" pitchFamily="34" charset="-120"/>
              </a:rPr>
              <a:t>Feux cycliques aux vrais carrefours (≥ 3 arêtes entrantes). Une arête au vert à la fois ; les véhicules s'arrêtent au rouge.</a:t>
            </a:r>
            <a:endParaRPr lang="en-US" sz="1200" dirty="0"/>
          </a:p>
        </p:txBody>
      </p:sp>
      <p:sp>
        <p:nvSpPr>
          <p:cNvPr id="12" name="Shape 10"/>
          <p:cNvSpPr/>
          <p:nvPr/>
        </p:nvSpPr>
        <p:spPr>
          <a:xfrm>
            <a:off x="4855464" y="2057400"/>
            <a:ext cx="3310128" cy="32461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4855464" y="2057400"/>
            <a:ext cx="3310128" cy="658368"/>
          </a:xfrm>
          <a:prstGeom prst="rect">
            <a:avLst/>
          </a:prstGeom>
          <a:solidFill>
            <a:srgbClr val="D4A12A"/>
          </a:solidFill>
          <a:ln/>
        </p:spPr>
      </p:sp>
      <p:sp>
        <p:nvSpPr>
          <p:cNvPr id="14" name="Text 12"/>
          <p:cNvSpPr/>
          <p:nvPr/>
        </p:nvSpPr>
        <p:spPr>
          <a:xfrm>
            <a:off x="5056632" y="2057400"/>
            <a:ext cx="2926080" cy="658368"/>
          </a:xfrm>
          <a:prstGeom prst="rect">
            <a:avLst/>
          </a:prstGeom>
          <a:noFill/>
          <a:ln/>
        </p:spPr>
        <p:txBody>
          <a:bodyPr wrap="square" lIns="0" tIns="0" rIns="0" bIns="0" rtlCol="0" anchor="ctr"/>
          <a:lstStyle/>
          <a:p>
            <a:pPr indent="0" marL="0">
              <a:buNone/>
            </a:pPr>
            <a:r>
              <a:rPr lang="en-US" sz="1450" b="1" dirty="0">
                <a:solidFill>
                  <a:srgbClr val="FFFFFF"/>
                </a:solidFill>
                <a:latin typeface="Trebuchet MS" pitchFamily="34" charset="0"/>
                <a:ea typeface="Trebuchet MS" pitchFamily="34" charset="-122"/>
                <a:cs typeface="Trebuchet MS" pitchFamily="34" charset="-120"/>
              </a:rPr>
              <a:t>Accidents</a:t>
            </a:r>
            <a:endParaRPr lang="en-US" sz="1450" dirty="0"/>
          </a:p>
        </p:txBody>
      </p:sp>
      <p:sp>
        <p:nvSpPr>
          <p:cNvPr id="15" name="Text 13"/>
          <p:cNvSpPr/>
          <p:nvPr/>
        </p:nvSpPr>
        <p:spPr>
          <a:xfrm>
            <a:off x="5056632" y="2788920"/>
            <a:ext cx="2926080" cy="310896"/>
          </a:xfrm>
          <a:prstGeom prst="rect">
            <a:avLst/>
          </a:prstGeom>
          <a:noFill/>
          <a:ln/>
        </p:spPr>
        <p:txBody>
          <a:bodyPr wrap="square" lIns="0" tIns="0" rIns="0" bIns="0" rtlCol="0" anchor="ctr"/>
          <a:lstStyle/>
          <a:p>
            <a:pPr indent="0" marL="0">
              <a:buNone/>
            </a:pPr>
            <a:r>
              <a:rPr lang="en-US" sz="1050" i="1" dirty="0">
                <a:solidFill>
                  <a:srgbClr val="D4A12A"/>
                </a:solidFill>
                <a:latin typeface="Calibri" pitchFamily="34" charset="0"/>
                <a:ea typeface="Calibri" pitchFamily="34" charset="-122"/>
                <a:cs typeface="Calibri" pitchFamily="34" charset="-120"/>
              </a:rPr>
              <a:t>AccidentSystem</a:t>
            </a:r>
            <a:endParaRPr lang="en-US" sz="1050" dirty="0"/>
          </a:p>
        </p:txBody>
      </p:sp>
      <p:sp>
        <p:nvSpPr>
          <p:cNvPr id="16" name="Text 14"/>
          <p:cNvSpPr/>
          <p:nvPr/>
        </p:nvSpPr>
        <p:spPr>
          <a:xfrm>
            <a:off x="5056632" y="3127248"/>
            <a:ext cx="2944368" cy="2011680"/>
          </a:xfrm>
          <a:prstGeom prst="rect">
            <a:avLst/>
          </a:prstGeom>
          <a:noFill/>
          <a:ln/>
        </p:spPr>
        <p:txBody>
          <a:bodyPr wrap="square" lIns="0" tIns="0" rIns="0" bIns="0" rtlCol="0" anchor="t"/>
          <a:lstStyle/>
          <a:p>
            <a:pPr indent="0" marL="0">
              <a:buNone/>
            </a:pPr>
            <a:r>
              <a:rPr lang="en-US" sz="1200" dirty="0">
                <a:solidFill>
                  <a:srgbClr val="3A3F4A"/>
                </a:solidFill>
                <a:latin typeface="Calibri" pitchFamily="34" charset="0"/>
                <a:ea typeface="Calibri" pitchFamily="34" charset="-122"/>
                <a:cs typeface="Calibri" pitchFamily="34" charset="-120"/>
              </a:rPr>
              <a:t>Déclenchement probabiliste sur les paires en suivi rapproché. Les véhicules sont figés en obstacles et peuvent émettre une alerte V2V.</a:t>
            </a:r>
            <a:endParaRPr lang="en-US" sz="1200" dirty="0"/>
          </a:p>
        </p:txBody>
      </p:sp>
      <p:sp>
        <p:nvSpPr>
          <p:cNvPr id="17" name="Shape 15"/>
          <p:cNvSpPr/>
          <p:nvPr/>
        </p:nvSpPr>
        <p:spPr>
          <a:xfrm>
            <a:off x="8385048" y="2057400"/>
            <a:ext cx="3310128" cy="32461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8" name="Shape 16"/>
          <p:cNvSpPr/>
          <p:nvPr/>
        </p:nvSpPr>
        <p:spPr>
          <a:xfrm>
            <a:off x="8385048" y="2057400"/>
            <a:ext cx="3310128" cy="658368"/>
          </a:xfrm>
          <a:prstGeom prst="rect">
            <a:avLst/>
          </a:prstGeom>
          <a:solidFill>
            <a:srgbClr val="2D5B9E"/>
          </a:solidFill>
          <a:ln/>
        </p:spPr>
      </p:sp>
      <p:sp>
        <p:nvSpPr>
          <p:cNvPr id="19" name="Text 17"/>
          <p:cNvSpPr/>
          <p:nvPr/>
        </p:nvSpPr>
        <p:spPr>
          <a:xfrm>
            <a:off x="8586216" y="2057400"/>
            <a:ext cx="2926080" cy="658368"/>
          </a:xfrm>
          <a:prstGeom prst="rect">
            <a:avLst/>
          </a:prstGeom>
          <a:noFill/>
          <a:ln/>
        </p:spPr>
        <p:txBody>
          <a:bodyPr wrap="square" lIns="0" tIns="0" rIns="0" bIns="0" rtlCol="0" anchor="ctr"/>
          <a:lstStyle/>
          <a:p>
            <a:pPr indent="0" marL="0">
              <a:buNone/>
            </a:pPr>
            <a:r>
              <a:rPr lang="en-US" sz="1450" b="1" dirty="0">
                <a:solidFill>
                  <a:srgbClr val="FFFFFF"/>
                </a:solidFill>
                <a:latin typeface="Trebuchet MS" pitchFamily="34" charset="0"/>
                <a:ea typeface="Trebuchet MS" pitchFamily="34" charset="-122"/>
                <a:cs typeface="Trebuchet MS" pitchFamily="34" charset="-120"/>
              </a:rPr>
              <a:t>Carte de densité</a:t>
            </a:r>
            <a:endParaRPr lang="en-US" sz="1450" dirty="0"/>
          </a:p>
        </p:txBody>
      </p:sp>
      <p:sp>
        <p:nvSpPr>
          <p:cNvPr id="20" name="Text 18"/>
          <p:cNvSpPr/>
          <p:nvPr/>
        </p:nvSpPr>
        <p:spPr>
          <a:xfrm>
            <a:off x="8586216" y="2788920"/>
            <a:ext cx="2926080" cy="310896"/>
          </a:xfrm>
          <a:prstGeom prst="rect">
            <a:avLst/>
          </a:prstGeom>
          <a:noFill/>
          <a:ln/>
        </p:spPr>
        <p:txBody>
          <a:bodyPr wrap="square" lIns="0" tIns="0" rIns="0" bIns="0" rtlCol="0" anchor="ctr"/>
          <a:lstStyle/>
          <a:p>
            <a:pPr indent="0" marL="0">
              <a:buNone/>
            </a:pPr>
            <a:r>
              <a:rPr lang="en-US" sz="1050" i="1" dirty="0">
                <a:solidFill>
                  <a:srgbClr val="D4A12A"/>
                </a:solidFill>
                <a:latin typeface="Calibri" pitchFamily="34" charset="0"/>
                <a:ea typeface="Calibri" pitchFamily="34" charset="-122"/>
                <a:cs typeface="Calibri" pitchFamily="34" charset="-120"/>
              </a:rPr>
              <a:t>DensityHeatmap</a:t>
            </a:r>
            <a:endParaRPr lang="en-US" sz="1050" dirty="0"/>
          </a:p>
        </p:txBody>
      </p:sp>
      <p:sp>
        <p:nvSpPr>
          <p:cNvPr id="21" name="Text 19"/>
          <p:cNvSpPr/>
          <p:nvPr/>
        </p:nvSpPr>
        <p:spPr>
          <a:xfrm>
            <a:off x="8586216" y="3127248"/>
            <a:ext cx="2944368" cy="2011680"/>
          </a:xfrm>
          <a:prstGeom prst="rect">
            <a:avLst/>
          </a:prstGeom>
          <a:noFill/>
          <a:ln/>
        </p:spPr>
        <p:txBody>
          <a:bodyPr wrap="square" lIns="0" tIns="0" rIns="0" bIns="0" rtlCol="0" anchor="t"/>
          <a:lstStyle/>
          <a:p>
            <a:pPr indent="0" marL="0">
              <a:buNone/>
            </a:pPr>
            <a:r>
              <a:rPr lang="en-US" sz="1200" dirty="0">
                <a:solidFill>
                  <a:srgbClr val="3A3F4A"/>
                </a:solidFill>
                <a:latin typeface="Calibri" pitchFamily="34" charset="0"/>
                <a:ea typeface="Calibri" pitchFamily="34" charset="-122"/>
                <a:cs typeface="Calibri" pitchFamily="34" charset="-120"/>
              </a:rPr>
              <a:t>Grille colorée (bleu → rouge) du nombre de véhicules par cellule, lissée dans le temps pour ne pas scintiller.</a:t>
            </a:r>
            <a:endParaRPr lang="en-US" sz="1200" dirty="0"/>
          </a:p>
        </p:txBody>
      </p:sp>
      <p:sp>
        <p:nvSpPr>
          <p:cNvPr id="22" name="Shape 20"/>
          <p:cNvSpPr/>
          <p:nvPr/>
        </p:nvSpPr>
        <p:spPr>
          <a:xfrm>
            <a:off x="1325880" y="5532120"/>
            <a:ext cx="10442448" cy="9144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23" name="Shape 21"/>
          <p:cNvSpPr/>
          <p:nvPr/>
        </p:nvSpPr>
        <p:spPr>
          <a:xfrm>
            <a:off x="1325880" y="5532120"/>
            <a:ext cx="82296" cy="914400"/>
          </a:xfrm>
          <a:prstGeom prst="rect">
            <a:avLst/>
          </a:prstGeom>
          <a:solidFill>
            <a:srgbClr val="D4A12A"/>
          </a:solidFill>
          <a:ln/>
        </p:spPr>
      </p:sp>
      <p:sp>
        <p:nvSpPr>
          <p:cNvPr id="24" name="Text 22"/>
          <p:cNvSpPr/>
          <p:nvPr/>
        </p:nvSpPr>
        <p:spPr>
          <a:xfrm>
            <a:off x="1563624" y="5678424"/>
            <a:ext cx="10021824" cy="6217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Démonstration</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L'interface permet de déclencher un accident à la demande et de resynchroniser les feux — pratique pour montrer le comportement à l'encadrant en direct.</a:t>
            </a:r>
            <a:endParaRPr lang="en-US" sz="1450" dirty="0"/>
          </a:p>
        </p:txBody>
      </p:sp>
      <p:sp>
        <p:nvSpPr>
          <p:cNvPr id="25" name="Text 23"/>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9</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MODULE V2V</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Le réseau de communication</a:t>
            </a:r>
            <a:endParaRPr lang="en-US" sz="2700" dirty="0"/>
          </a:p>
        </p:txBody>
      </p:sp>
      <p:sp>
        <p:nvSpPr>
          <p:cNvPr id="6" name="Text 4"/>
          <p:cNvSpPr/>
          <p:nvPr/>
        </p:nvSpPr>
        <p:spPr>
          <a:xfrm>
            <a:off x="1325880" y="1417320"/>
            <a:ext cx="10332720" cy="457200"/>
          </a:xfrm>
          <a:prstGeom prst="rect">
            <a:avLst/>
          </a:prstGeom>
          <a:noFill/>
          <a:ln/>
        </p:spPr>
        <p:txBody>
          <a:bodyPr wrap="square" rtlCol="0" anchor="ctr"/>
          <a:lstStyle/>
          <a:p>
            <a:pPr indent="0" marL="0">
              <a:buNone/>
            </a:pPr>
            <a:r>
              <a:rPr lang="en-US" sz="1300" dirty="0">
                <a:solidFill>
                  <a:srgbClr val="8893A6"/>
                </a:solidFill>
                <a:latin typeface="Calibri" pitchFamily="34" charset="0"/>
                <a:ea typeface="Calibri" pitchFamily="34" charset="-122"/>
                <a:cs typeface="Calibri" pitchFamily="34" charset="-120"/>
              </a:rPr>
              <a:t>Le cœur du sujet : modéliser et visualiser la communication entre véhicules.</a:t>
            </a:r>
            <a:endParaRPr lang="en-US" sz="1300" dirty="0"/>
          </a:p>
        </p:txBody>
      </p:sp>
      <p:sp>
        <p:nvSpPr>
          <p:cNvPr id="7" name="Shape 5"/>
          <p:cNvSpPr/>
          <p:nvPr/>
        </p:nvSpPr>
        <p:spPr>
          <a:xfrm>
            <a:off x="1325880" y="2011680"/>
            <a:ext cx="5120640" cy="1874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8" name="Shape 6"/>
          <p:cNvSpPr/>
          <p:nvPr/>
        </p:nvSpPr>
        <p:spPr>
          <a:xfrm>
            <a:off x="1325880" y="2011680"/>
            <a:ext cx="82296" cy="1874520"/>
          </a:xfrm>
          <a:prstGeom prst="rect">
            <a:avLst/>
          </a:prstGeom>
          <a:solidFill>
            <a:srgbClr val="D4A12A"/>
          </a:solidFill>
          <a:ln/>
        </p:spPr>
      </p:sp>
      <p:sp>
        <p:nvSpPr>
          <p:cNvPr id="9" name="Text 7"/>
          <p:cNvSpPr/>
          <p:nvPr/>
        </p:nvSpPr>
        <p:spPr>
          <a:xfrm>
            <a:off x="1563624" y="2157984"/>
            <a:ext cx="4700016" cy="15819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V2VNetwork — calcul des liens</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Reconstruit chaque image l'ensemble des liaisons actives. Un lien existe si les deux véhicules sont dans la portée l'un de l'autre (minimum des deux portées).</a:t>
            </a:r>
            <a:endParaRPr lang="en-US" sz="1450" dirty="0"/>
          </a:p>
        </p:txBody>
      </p:sp>
      <p:sp>
        <p:nvSpPr>
          <p:cNvPr id="10" name="Shape 8"/>
          <p:cNvSpPr/>
          <p:nvPr/>
        </p:nvSpPr>
        <p:spPr>
          <a:xfrm>
            <a:off x="6647688" y="2011680"/>
            <a:ext cx="5120640" cy="18745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1" name="Shape 9"/>
          <p:cNvSpPr/>
          <p:nvPr/>
        </p:nvSpPr>
        <p:spPr>
          <a:xfrm>
            <a:off x="6647688" y="2011680"/>
            <a:ext cx="82296" cy="1874520"/>
          </a:xfrm>
          <a:prstGeom prst="rect">
            <a:avLst/>
          </a:prstGeom>
          <a:solidFill>
            <a:srgbClr val="2D5B9E"/>
          </a:solidFill>
          <a:ln/>
        </p:spPr>
      </p:sp>
      <p:sp>
        <p:nvSpPr>
          <p:cNvPr id="12" name="Text 10"/>
          <p:cNvSpPr/>
          <p:nvPr/>
        </p:nvSpPr>
        <p:spPr>
          <a:xfrm>
            <a:off x="6885432" y="2157984"/>
            <a:ext cx="4700016" cy="15819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RadioModel — force du signal</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Décroissance quadratique de 1,0 (contact) à 0 (portée max). Rampe de couleur rouge → jaune → vert ; les liens faibles s'estompent. Modèle facilement remplaçable.</a:t>
            </a:r>
            <a:endParaRPr lang="en-US" sz="1450" dirty="0"/>
          </a:p>
        </p:txBody>
      </p:sp>
      <p:sp>
        <p:nvSpPr>
          <p:cNvPr id="13" name="Shape 11"/>
          <p:cNvSpPr/>
          <p:nvPr/>
        </p:nvSpPr>
        <p:spPr>
          <a:xfrm>
            <a:off x="1325880" y="4069080"/>
            <a:ext cx="5120640" cy="14173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4" name="Shape 12"/>
          <p:cNvSpPr/>
          <p:nvPr/>
        </p:nvSpPr>
        <p:spPr>
          <a:xfrm>
            <a:off x="1325880" y="4069080"/>
            <a:ext cx="82296" cy="1417320"/>
          </a:xfrm>
          <a:prstGeom prst="rect">
            <a:avLst/>
          </a:prstGeom>
          <a:solidFill>
            <a:srgbClr val="2D5B9E"/>
          </a:solidFill>
          <a:ln/>
        </p:spPr>
      </p:sp>
      <p:sp>
        <p:nvSpPr>
          <p:cNvPr id="15" name="Text 13"/>
          <p:cNvSpPr/>
          <p:nvPr/>
        </p:nvSpPr>
        <p:spPr>
          <a:xfrm>
            <a:off x="1563624" y="4215384"/>
            <a:ext cx="4700016" cy="11247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LinkRenderer — rendu des liens</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Dessine toutes les liaisons en segments colorés, en un seul appel de rendu par image.</a:t>
            </a:r>
            <a:endParaRPr lang="en-US" sz="1450" dirty="0"/>
          </a:p>
        </p:txBody>
      </p:sp>
      <p:sp>
        <p:nvSpPr>
          <p:cNvPr id="16" name="Shape 14"/>
          <p:cNvSpPr/>
          <p:nvPr/>
        </p:nvSpPr>
        <p:spPr>
          <a:xfrm>
            <a:off x="6647688" y="4069080"/>
            <a:ext cx="5120640" cy="14173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6647688" y="4069080"/>
            <a:ext cx="82296" cy="1417320"/>
          </a:xfrm>
          <a:prstGeom prst="rect">
            <a:avLst/>
          </a:prstGeom>
          <a:solidFill>
            <a:srgbClr val="D4A12A"/>
          </a:solidFill>
          <a:ln/>
        </p:spPr>
      </p:sp>
      <p:sp>
        <p:nvSpPr>
          <p:cNvPr id="18" name="Text 16"/>
          <p:cNvSpPr/>
          <p:nvPr/>
        </p:nvSpPr>
        <p:spPr>
          <a:xfrm>
            <a:off x="6885432" y="4215384"/>
            <a:ext cx="4700016" cy="11247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Diffusions multi-sauts</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Un message émis se propage en anneau qui s'étend ; un véhicule touché peut le relayer (génération 1, 2, …), chaque saut d'une couleur distincte.</a:t>
            </a:r>
            <a:endParaRPr lang="en-US" sz="1450" dirty="0"/>
          </a:p>
        </p:txBody>
      </p:sp>
      <p:sp>
        <p:nvSpPr>
          <p:cNvPr id="19" name="Shape 17"/>
          <p:cNvSpPr/>
          <p:nvPr/>
        </p:nvSpPr>
        <p:spPr>
          <a:xfrm>
            <a:off x="1325880" y="5669280"/>
            <a:ext cx="10442448" cy="841248"/>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20" name="Shape 18"/>
          <p:cNvSpPr/>
          <p:nvPr/>
        </p:nvSpPr>
        <p:spPr>
          <a:xfrm>
            <a:off x="1325880" y="5669280"/>
            <a:ext cx="82296" cy="841248"/>
          </a:xfrm>
          <a:prstGeom prst="rect">
            <a:avLst/>
          </a:prstGeom>
          <a:solidFill>
            <a:srgbClr val="2D5B9E"/>
          </a:solidFill>
          <a:ln/>
        </p:spPr>
      </p:sp>
      <p:sp>
        <p:nvSpPr>
          <p:cNvPr id="21" name="Text 19"/>
          <p:cNvSpPr/>
          <p:nvPr/>
        </p:nvSpPr>
        <p:spPr>
          <a:xfrm>
            <a:off x="1563624" y="5815584"/>
            <a:ext cx="10021824" cy="548640"/>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Intégration</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Le réseau V2V s'appuie sur la grille spatiale pour trouver les paires proches, et la météo réduit la portée radio (pluie légèrement, brouillard fortement).</a:t>
            </a:r>
            <a:endParaRPr lang="en-US" sz="1450" dirty="0"/>
          </a:p>
        </p:txBody>
      </p:sp>
      <p:sp>
        <p:nvSpPr>
          <p:cNvPr id="22" name="Text 20"/>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10</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PERFORMANCE</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Optimisation spatiale</a:t>
            </a:r>
            <a:endParaRPr lang="en-US" sz="2700" dirty="0"/>
          </a:p>
        </p:txBody>
      </p:sp>
      <p:sp>
        <p:nvSpPr>
          <p:cNvPr id="6" name="Text 4"/>
          <p:cNvSpPr/>
          <p:nvPr/>
        </p:nvSpPr>
        <p:spPr>
          <a:xfrm>
            <a:off x="1325880" y="1417320"/>
            <a:ext cx="10332720" cy="457200"/>
          </a:xfrm>
          <a:prstGeom prst="rect">
            <a:avLst/>
          </a:prstGeom>
          <a:noFill/>
          <a:ln/>
        </p:spPr>
        <p:txBody>
          <a:bodyPr wrap="square" rtlCol="0" anchor="ctr"/>
          <a:lstStyle/>
          <a:p>
            <a:pPr indent="0" marL="0">
              <a:buNone/>
            </a:pPr>
            <a:r>
              <a:rPr lang="en-US" sz="1300" dirty="0">
                <a:solidFill>
                  <a:srgbClr val="8893A6"/>
                </a:solidFill>
                <a:latin typeface="Calibri" pitchFamily="34" charset="0"/>
                <a:ea typeface="Calibri" pitchFamily="34" charset="-122"/>
                <a:cs typeface="Calibri" pitchFamily="34" charset="-120"/>
              </a:rPr>
              <a:t>Atteindre 2000 véhicules à 60 i/s imposait d'éliminer tout algorithme quadratique du chemin critique.</a:t>
            </a:r>
            <a:endParaRPr lang="en-US" sz="1300" dirty="0"/>
          </a:p>
        </p:txBody>
      </p:sp>
      <p:sp>
        <p:nvSpPr>
          <p:cNvPr id="7" name="Shape 5"/>
          <p:cNvSpPr/>
          <p:nvPr/>
        </p:nvSpPr>
        <p:spPr>
          <a:xfrm>
            <a:off x="1325880" y="2011680"/>
            <a:ext cx="5120640" cy="21031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8" name="Shape 6"/>
          <p:cNvSpPr/>
          <p:nvPr/>
        </p:nvSpPr>
        <p:spPr>
          <a:xfrm>
            <a:off x="1325880" y="2011680"/>
            <a:ext cx="82296" cy="2103120"/>
          </a:xfrm>
          <a:prstGeom prst="rect">
            <a:avLst/>
          </a:prstGeom>
          <a:solidFill>
            <a:srgbClr val="D4A12A"/>
          </a:solidFill>
          <a:ln/>
        </p:spPr>
      </p:sp>
      <p:sp>
        <p:nvSpPr>
          <p:cNvPr id="9" name="Text 7"/>
          <p:cNvSpPr/>
          <p:nvPr/>
        </p:nvSpPr>
        <p:spPr>
          <a:xfrm>
            <a:off x="1563624" y="2157984"/>
            <a:ext cx="4700016" cy="18105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SpatialGrid — grille de hachage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Reconstruite à chaque image. Toute requête de proximité ne touche que 3×3 cellules. Le calcul des paires proches passe de O(n²) à O(n) en moyenne — c'est elle qui rend le réseau V2V tenable.</a:t>
            </a:r>
            <a:endParaRPr lang="en-US" sz="1450" dirty="0"/>
          </a:p>
        </p:txBody>
      </p:sp>
      <p:sp>
        <p:nvSpPr>
          <p:cNvPr id="10" name="Shape 8"/>
          <p:cNvSpPr/>
          <p:nvPr/>
        </p:nvSpPr>
        <p:spPr>
          <a:xfrm>
            <a:off x="6647688" y="2011680"/>
            <a:ext cx="5120640" cy="21031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1" name="Shape 9"/>
          <p:cNvSpPr/>
          <p:nvPr/>
        </p:nvSpPr>
        <p:spPr>
          <a:xfrm>
            <a:off x="6647688" y="2011680"/>
            <a:ext cx="82296" cy="2103120"/>
          </a:xfrm>
          <a:prstGeom prst="rect">
            <a:avLst/>
          </a:prstGeom>
          <a:solidFill>
            <a:srgbClr val="2D5B9E"/>
          </a:solidFill>
          <a:ln/>
        </p:spPr>
      </p:sp>
      <p:sp>
        <p:nvSpPr>
          <p:cNvPr id="12" name="Text 10"/>
          <p:cNvSpPr/>
          <p:nvPr/>
        </p:nvSpPr>
        <p:spPr>
          <a:xfrm>
            <a:off x="6885432" y="2157984"/>
            <a:ext cx="4700016" cy="18105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Rendu instancié</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Les N véhicules sont dessinés en UN seul appel grâce à un tampon d'instances (position, cap, couleur, taille). Tous les renderers suivent la règle : un appel de rendu par couche.</a:t>
            </a:r>
            <a:endParaRPr lang="en-US" sz="1450" dirty="0"/>
          </a:p>
        </p:txBody>
      </p:sp>
      <p:sp>
        <p:nvSpPr>
          <p:cNvPr id="13" name="Shape 11"/>
          <p:cNvSpPr/>
          <p:nvPr/>
        </p:nvSpPr>
        <p:spPr>
          <a:xfrm>
            <a:off x="1325880" y="4297680"/>
            <a:ext cx="10442448" cy="13716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4" name="Shape 12"/>
          <p:cNvSpPr/>
          <p:nvPr/>
        </p:nvSpPr>
        <p:spPr>
          <a:xfrm>
            <a:off x="1325880" y="4297680"/>
            <a:ext cx="82296" cy="1371600"/>
          </a:xfrm>
          <a:prstGeom prst="rect">
            <a:avLst/>
          </a:prstGeom>
          <a:solidFill>
            <a:srgbClr val="D4A12A"/>
          </a:solidFill>
          <a:ln/>
        </p:spPr>
      </p:sp>
      <p:sp>
        <p:nvSpPr>
          <p:cNvPr id="15" name="Text 13"/>
          <p:cNvSpPr/>
          <p:nvPr/>
        </p:nvSpPr>
        <p:spPr>
          <a:xfrm>
            <a:off x="1563624" y="4443984"/>
            <a:ext cx="10021824" cy="10789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Profiler — mesure intégrée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Un profileur à portée (RAII) chronomètre automatiquement près de 30 sections nommées de simulation et de rendu. Les temps, moyennés sur une seconde glissante, s'affichent dans le panneau de performance : tout goulet d'étranglement devient immédiatement visible.</a:t>
            </a:r>
            <a:endParaRPr lang="en-US" sz="1450" dirty="0"/>
          </a:p>
        </p:txBody>
      </p:sp>
      <p:sp>
        <p:nvSpPr>
          <p:cNvPr id="16" name="Text 14"/>
          <p:cNvSpPr/>
          <p:nvPr/>
        </p:nvSpPr>
        <p:spPr>
          <a:xfrm>
            <a:off x="1325880" y="5806440"/>
            <a:ext cx="10332720" cy="457200"/>
          </a:xfrm>
          <a:prstGeom prst="rect">
            <a:avLst/>
          </a:prstGeom>
          <a:noFill/>
          <a:ln/>
        </p:spPr>
        <p:txBody>
          <a:bodyPr wrap="square" rtlCol="0" anchor="ctr"/>
          <a:lstStyle/>
          <a:p>
            <a:pPr indent="0" marL="0">
              <a:buNone/>
            </a:pPr>
            <a:r>
              <a:rPr lang="en-US" sz="1150" i="1" dirty="0">
                <a:solidFill>
                  <a:srgbClr val="8893A6"/>
                </a:solidFill>
                <a:latin typeface="Calibri" pitchFamily="34" charset="0"/>
                <a:ea typeface="Calibri" pitchFamily="34" charset="-122"/>
                <a:cs typeface="Calibri" pitchFamily="34" charset="-120"/>
              </a:rPr>
              <a:t>Résultat mesuré : plus de 100 images/seconde avec 1500 véhicules — la cible de fluidité est tenue même quand on ajoute des véhicules.</a:t>
            </a:r>
            <a:endParaRPr lang="en-US" sz="1150" dirty="0"/>
          </a:p>
        </p:txBody>
      </p:sp>
      <p:sp>
        <p:nvSpPr>
          <p:cNvPr id="17" name="Text 15"/>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11</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MODULES UI &amp; UTILS</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Interface &amp; poste de pilotage</a:t>
            </a:r>
            <a:endParaRPr lang="en-US" sz="2700" dirty="0"/>
          </a:p>
        </p:txBody>
      </p:sp>
      <p:sp>
        <p:nvSpPr>
          <p:cNvPr id="6" name="Shape 4"/>
          <p:cNvSpPr/>
          <p:nvPr/>
        </p:nvSpPr>
        <p:spPr>
          <a:xfrm>
            <a:off x="1325880" y="1508760"/>
            <a:ext cx="5120640" cy="18288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1325880" y="1508760"/>
            <a:ext cx="82296" cy="1828800"/>
          </a:xfrm>
          <a:prstGeom prst="rect">
            <a:avLst/>
          </a:prstGeom>
          <a:solidFill>
            <a:srgbClr val="D4A12A"/>
          </a:solidFill>
          <a:ln/>
        </p:spPr>
      </p:sp>
      <p:sp>
        <p:nvSpPr>
          <p:cNvPr id="8" name="Text 6"/>
          <p:cNvSpPr/>
          <p:nvPr/>
        </p:nvSpPr>
        <p:spPr>
          <a:xfrm>
            <a:off x="1563624" y="1655064"/>
            <a:ext cx="4700016" cy="15361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Barre de métriques en direct</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En haut de l'écran, six indicateurs avec mini-courbes : véhicules, liens, FPS, signal moyen, diffusions, alertes — actualisés image par image.</a:t>
            </a:r>
            <a:endParaRPr lang="en-US" sz="1450" dirty="0"/>
          </a:p>
        </p:txBody>
      </p:sp>
      <p:sp>
        <p:nvSpPr>
          <p:cNvPr id="9" name="Shape 7"/>
          <p:cNvSpPr/>
          <p:nvPr/>
        </p:nvSpPr>
        <p:spPr>
          <a:xfrm>
            <a:off x="6647688" y="1508760"/>
            <a:ext cx="5120640" cy="18288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647688" y="1508760"/>
            <a:ext cx="82296" cy="1828800"/>
          </a:xfrm>
          <a:prstGeom prst="rect">
            <a:avLst/>
          </a:prstGeom>
          <a:solidFill>
            <a:srgbClr val="2D5B9E"/>
          </a:solidFill>
          <a:ln/>
        </p:spPr>
      </p:sp>
      <p:sp>
        <p:nvSpPr>
          <p:cNvPr id="11" name="Text 9"/>
          <p:cNvSpPr/>
          <p:nvPr/>
        </p:nvSpPr>
        <p:spPr>
          <a:xfrm>
            <a:off x="6885432" y="1655064"/>
            <a:ext cx="4700016" cy="15361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Control Center</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Réglages d'environnement (heure du jour, météo, intensité, taille des véhicules), presets de qualité Ultra / High / Med / Perf, et un radar cliquable pour se téléporter sur la carte.</a:t>
            </a:r>
            <a:endParaRPr lang="en-US" sz="1450" dirty="0"/>
          </a:p>
        </p:txBody>
      </p:sp>
      <p:sp>
        <p:nvSpPr>
          <p:cNvPr id="12" name="Shape 10"/>
          <p:cNvSpPr/>
          <p:nvPr/>
        </p:nvSpPr>
        <p:spPr>
          <a:xfrm>
            <a:off x="1325880" y="3474720"/>
            <a:ext cx="5120640" cy="18288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3" name="Shape 11"/>
          <p:cNvSpPr/>
          <p:nvPr/>
        </p:nvSpPr>
        <p:spPr>
          <a:xfrm>
            <a:off x="1325880" y="3474720"/>
            <a:ext cx="82296" cy="1828800"/>
          </a:xfrm>
          <a:prstGeom prst="rect">
            <a:avLst/>
          </a:prstGeom>
          <a:solidFill>
            <a:srgbClr val="2D5B9E"/>
          </a:solidFill>
          <a:ln/>
        </p:spPr>
      </p:sp>
      <p:sp>
        <p:nvSpPr>
          <p:cNvPr id="14" name="Text 12"/>
          <p:cNvSpPr/>
          <p:nvPr/>
        </p:nvSpPr>
        <p:spPr>
          <a:xfrm>
            <a:off x="1563624" y="3621024"/>
            <a:ext cx="4700016" cy="15361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Inspecteur &amp; flux d'événements</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Panneau de droite : télémétrie (grille spatiale, transitions), réglages du réseau V2V et des accidents, types de véhicules, et un journal horodaté des événements système.</a:t>
            </a:r>
            <a:endParaRPr lang="en-US" sz="1450" dirty="0"/>
          </a:p>
        </p:txBody>
      </p:sp>
      <p:sp>
        <p:nvSpPr>
          <p:cNvPr id="15" name="Shape 13"/>
          <p:cNvSpPr/>
          <p:nvPr/>
        </p:nvSpPr>
        <p:spPr>
          <a:xfrm>
            <a:off x="6647688" y="3474720"/>
            <a:ext cx="5120640" cy="18288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6" name="Shape 14"/>
          <p:cNvSpPr/>
          <p:nvPr/>
        </p:nvSpPr>
        <p:spPr>
          <a:xfrm>
            <a:off x="6647688" y="3474720"/>
            <a:ext cx="82296" cy="1828800"/>
          </a:xfrm>
          <a:prstGeom prst="rect">
            <a:avLst/>
          </a:prstGeom>
          <a:solidFill>
            <a:srgbClr val="D4A12A"/>
          </a:solidFill>
          <a:ln/>
        </p:spPr>
      </p:sp>
      <p:sp>
        <p:nvSpPr>
          <p:cNvPr id="17" name="Text 15"/>
          <p:cNvSpPr/>
          <p:nvPr/>
        </p:nvSpPr>
        <p:spPr>
          <a:xfrm>
            <a:off x="6885432" y="3621024"/>
            <a:ext cx="4700016" cy="15361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Météo — pas que cosmétique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Ciel clair, pluie ou brouillard agissent sur la PHYSIQUE : un multiplicateur de portée V2V et un multiplicateur de vitesse des véhicules. La pluie est un système de particules procédural.</a:t>
            </a:r>
            <a:endParaRPr lang="en-US" sz="1450" dirty="0"/>
          </a:p>
        </p:txBody>
      </p:sp>
      <p:sp>
        <p:nvSpPr>
          <p:cNvPr id="18" name="Shape 16"/>
          <p:cNvSpPr/>
          <p:nvPr/>
        </p:nvSpPr>
        <p:spPr>
          <a:xfrm>
            <a:off x="1325880" y="5440680"/>
            <a:ext cx="10442448" cy="9601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9" name="Shape 17"/>
          <p:cNvSpPr/>
          <p:nvPr/>
        </p:nvSpPr>
        <p:spPr>
          <a:xfrm>
            <a:off x="1325880" y="5440680"/>
            <a:ext cx="82296" cy="960120"/>
          </a:xfrm>
          <a:prstGeom prst="rect">
            <a:avLst/>
          </a:prstGeom>
          <a:solidFill>
            <a:srgbClr val="2D5B9E"/>
          </a:solidFill>
          <a:ln/>
        </p:spPr>
      </p:sp>
      <p:sp>
        <p:nvSpPr>
          <p:cNvPr id="20" name="Text 18"/>
          <p:cNvSpPr/>
          <p:nvPr/>
        </p:nvSpPr>
        <p:spPr>
          <a:xfrm>
            <a:off x="1563624" y="5586984"/>
            <a:ext cx="10021824" cy="6675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Commandes</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Clic droit = déplacer · molette = zoom · G/M/V/L = afficher graphe/carte/véhicules/liens · Espace = pause · +/- = vitesse. Les entrées sont neutralisées au survol d'un panneau.</a:t>
            </a:r>
            <a:endParaRPr lang="en-US" sz="1450" dirty="0"/>
          </a:p>
        </p:txBody>
      </p:sp>
      <p:sp>
        <p:nvSpPr>
          <p:cNvPr id="21" name="Text 19"/>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566928" cy="566928"/>
          </a:xfrm>
          <a:prstGeom prst="ellipse">
            <a:avLst/>
          </a:prstGeom>
          <a:solidFill>
            <a:srgbClr val="D4A12A"/>
          </a:solidFill>
          <a:ln/>
          <a:effectLst>
            <a:outerShdw sx="100000" sy="100000" kx="0" ky="0" algn="bl" rotWithShape="0" blurRad="88900" dist="38100" dir="8100000">
              <a:srgbClr val="000000">
                <a:alpha val="16000"/>
              </a:srgbClr>
            </a:outerShdw>
          </a:effectLst>
        </p:spPr>
      </p:sp>
      <p:sp>
        <p:nvSpPr>
          <p:cNvPr id="3" name="Text 1"/>
          <p:cNvSpPr/>
          <p:nvPr/>
        </p:nvSpPr>
        <p:spPr>
          <a:xfrm>
            <a:off x="566928" y="50292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Trebuchet MS" pitchFamily="34" charset="0"/>
                <a:ea typeface="Trebuchet MS" pitchFamily="34" charset="-122"/>
                <a:cs typeface="Trebuchet MS" pitchFamily="34" charset="-120"/>
              </a:rPr>
              <a:t>▦</a:t>
            </a:r>
            <a:endParaRPr lang="en-US" sz="1900" dirty="0"/>
          </a:p>
        </p:txBody>
      </p:sp>
      <p:sp>
        <p:nvSpPr>
          <p:cNvPr id="4" name="Text 2"/>
          <p:cNvSpPr/>
          <p:nvPr/>
        </p:nvSpPr>
        <p:spPr>
          <a:xfrm>
            <a:off x="1325880" y="457200"/>
            <a:ext cx="9601200" cy="292608"/>
          </a:xfrm>
          <a:prstGeom prst="rect">
            <a:avLst/>
          </a:prstGeom>
          <a:noFill/>
          <a:ln/>
        </p:spPr>
        <p:txBody>
          <a:bodyPr wrap="square" lIns="0" tIns="0" rIns="0" bIns="0" rtlCol="0" anchor="ctr"/>
          <a:lstStyle/>
          <a:p>
            <a:pPr indent="0" marL="0">
              <a:buNone/>
            </a:pPr>
            <a:r>
              <a:rPr lang="en-US" sz="1100" b="1" spc="200" kern="0" dirty="0">
                <a:solidFill>
                  <a:srgbClr val="D4A12A"/>
                </a:solidFill>
                <a:latin typeface="Calibri" pitchFamily="34" charset="0"/>
                <a:ea typeface="Calibri" pitchFamily="34" charset="-122"/>
                <a:cs typeface="Calibri" pitchFamily="34" charset="-120"/>
              </a:rPr>
              <a:t>BILAN CHIFFRÉ</a:t>
            </a:r>
            <a:endParaRPr lang="en-US" sz="1100" dirty="0"/>
          </a:p>
        </p:txBody>
      </p:sp>
      <p:sp>
        <p:nvSpPr>
          <p:cNvPr id="5" name="Text 3"/>
          <p:cNvSpPr/>
          <p:nvPr/>
        </p:nvSpPr>
        <p:spPr>
          <a:xfrm>
            <a:off x="1325880" y="694944"/>
            <a:ext cx="10241280" cy="603504"/>
          </a:xfrm>
          <a:prstGeom prst="rect">
            <a:avLst/>
          </a:prstGeom>
          <a:noFill/>
          <a:ln/>
        </p:spPr>
        <p:txBody>
          <a:bodyPr wrap="square" lIns="0" tIns="0" rIns="0" bIns="0" rtlCol="0" anchor="ctr"/>
          <a:lstStyle/>
          <a:p>
            <a:pPr indent="0" marL="0">
              <a:buNone/>
            </a:pPr>
            <a:r>
              <a:rPr lang="en-US" sz="2700" b="1" dirty="0">
                <a:solidFill>
                  <a:srgbClr val="16243F"/>
                </a:solidFill>
                <a:latin typeface="Trebuchet MS" pitchFamily="34" charset="0"/>
                <a:ea typeface="Trebuchet MS" pitchFamily="34" charset="-122"/>
                <a:cs typeface="Trebuchet MS" pitchFamily="34" charset="-120"/>
              </a:rPr>
              <a:t>Le projet en chiffres</a:t>
            </a:r>
            <a:endParaRPr lang="en-US" sz="2700" dirty="0"/>
          </a:p>
        </p:txBody>
      </p:sp>
      <p:sp>
        <p:nvSpPr>
          <p:cNvPr id="6" name="Text 4"/>
          <p:cNvSpPr/>
          <p:nvPr/>
        </p:nvSpPr>
        <p:spPr>
          <a:xfrm>
            <a:off x="1325880" y="1371600"/>
            <a:ext cx="10058400" cy="365760"/>
          </a:xfrm>
          <a:prstGeom prst="rect">
            <a:avLst/>
          </a:prstGeom>
          <a:noFill/>
          <a:ln/>
        </p:spPr>
        <p:txBody>
          <a:bodyPr wrap="square" rtlCol="0" anchor="ctr"/>
          <a:lstStyle/>
          <a:p>
            <a:pPr indent="0" marL="0">
              <a:buNone/>
            </a:pPr>
            <a:r>
              <a:rPr lang="en-US" sz="1300" dirty="0">
                <a:solidFill>
                  <a:srgbClr val="8893A6"/>
                </a:solidFill>
                <a:latin typeface="Calibri" pitchFamily="34" charset="0"/>
                <a:ea typeface="Calibri" pitchFamily="34" charset="-122"/>
                <a:cs typeface="Calibri" pitchFamily="34" charset="-120"/>
              </a:rPr>
              <a:t>Répartition des 8 318 lignes de code C++ par module.</a:t>
            </a:r>
            <a:endParaRPr lang="en-US" sz="1300" dirty="0"/>
          </a:p>
        </p:txBody>
      </p:sp>
      <p:graphicFrame>
        <p:nvGraphicFramePr>
          <p:cNvPr id="7" name="Chart 0" descr=""/>
          <p:cNvGraphicFramePr/>
          <p:nvPr/>
        </p:nvGraphicFramePr>
        <p:xfrm>
          <a:off x="1188720" y="182880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412480" y="1828800"/>
            <a:ext cx="3337560" cy="205740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9" name="Shape 6"/>
          <p:cNvSpPr/>
          <p:nvPr/>
        </p:nvSpPr>
        <p:spPr>
          <a:xfrm>
            <a:off x="8412480" y="1828800"/>
            <a:ext cx="82296" cy="2057400"/>
          </a:xfrm>
          <a:prstGeom prst="rect">
            <a:avLst/>
          </a:prstGeom>
          <a:solidFill>
            <a:srgbClr val="D4A12A"/>
          </a:solidFill>
          <a:ln/>
        </p:spPr>
      </p:sp>
      <p:sp>
        <p:nvSpPr>
          <p:cNvPr id="10" name="Text 7"/>
          <p:cNvSpPr/>
          <p:nvPr/>
        </p:nvSpPr>
        <p:spPr>
          <a:xfrm>
            <a:off x="8650224" y="1975104"/>
            <a:ext cx="2916936" cy="176479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Méthode de travail</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Plan séquentiel en 8 étapes, chacune aboutissant à une démonstration exécutable. Le projet a ensuite dépassé son plan : 7 systèmes ajoutés.</a:t>
            </a:r>
            <a:endParaRPr lang="en-US" sz="1450" dirty="0"/>
          </a:p>
        </p:txBody>
      </p:sp>
      <p:sp>
        <p:nvSpPr>
          <p:cNvPr id="11" name="Shape 8"/>
          <p:cNvSpPr/>
          <p:nvPr/>
        </p:nvSpPr>
        <p:spPr>
          <a:xfrm>
            <a:off x="8412480" y="4023360"/>
            <a:ext cx="3337560" cy="2103120"/>
          </a:xfrm>
          <a:prstGeom prst="rect">
            <a:avLst/>
          </a:prstGeom>
          <a:solidFill>
            <a:srgbClr val="FFFFFF"/>
          </a:solidFill>
          <a:ln w="12700">
            <a:solidFill>
              <a:srgbClr val="C9D2E0"/>
            </a:solidFill>
            <a:prstDash val="solid"/>
          </a:ln>
          <a:effectLst>
            <a:outerShdw sx="100000" sy="100000" kx="0" ky="0" algn="bl" rotWithShape="0" blurRad="88900" dist="38100" dir="8100000">
              <a:srgbClr val="000000">
                <a:alpha val="16000"/>
              </a:srgbClr>
            </a:outerShdw>
          </a:effectLst>
        </p:spPr>
      </p:sp>
      <p:sp>
        <p:nvSpPr>
          <p:cNvPr id="12" name="Shape 9"/>
          <p:cNvSpPr/>
          <p:nvPr/>
        </p:nvSpPr>
        <p:spPr>
          <a:xfrm>
            <a:off x="8412480" y="4023360"/>
            <a:ext cx="82296" cy="2103120"/>
          </a:xfrm>
          <a:prstGeom prst="rect">
            <a:avLst/>
          </a:prstGeom>
          <a:solidFill>
            <a:srgbClr val="2D5B9E"/>
          </a:solidFill>
          <a:ln/>
        </p:spPr>
      </p:sp>
      <p:sp>
        <p:nvSpPr>
          <p:cNvPr id="13" name="Text 10"/>
          <p:cNvSpPr/>
          <p:nvPr/>
        </p:nvSpPr>
        <p:spPr>
          <a:xfrm>
            <a:off x="8650224" y="4169664"/>
            <a:ext cx="2916936" cy="1810512"/>
          </a:xfrm>
          <a:prstGeom prst="rect">
            <a:avLst/>
          </a:prstGeom>
          <a:noFill/>
          <a:ln/>
        </p:spPr>
        <p:txBody>
          <a:bodyPr wrap="square" rtlCol="0" anchor="t"/>
          <a:lstStyle/>
          <a:p>
            <a:pPr indent="0" marL="0">
              <a:lnSpc>
                <a:spcPct val="104000"/>
              </a:lnSpc>
              <a:spcAft>
                <a:spcPts val="500"/>
              </a:spcAft>
              <a:buNone/>
            </a:pPr>
            <a:r>
              <a:rPr lang="en-US" sz="1450" b="1" dirty="0">
                <a:solidFill>
                  <a:srgbClr val="16243F"/>
                </a:solidFill>
                <a:latin typeface="Trebuchet MS" pitchFamily="34" charset="0"/>
                <a:ea typeface="Trebuchet MS" pitchFamily="34" charset="-122"/>
                <a:cs typeface="Trebuchet MS" pitchFamily="34" charset="-120"/>
              </a:rPr>
              <a:t>Vérification effectuée</a:t>
            </a:r>
            <a:endParaRPr lang="en-US" sz="1450" dirty="0"/>
          </a:p>
          <a:p>
            <a:pPr indent="0" marL="0">
              <a:lnSpc>
                <a:spcPct val="104000"/>
              </a:lnSpc>
              <a:spcAft>
                <a:spcPts val="400"/>
              </a:spcAft>
              <a:buNone/>
            </a:pPr>
            <a:r>
              <a:rPr lang="en-US" sz="1220" dirty="0">
                <a:solidFill>
                  <a:srgbClr val="3A3F4A"/>
                </a:solidFill>
                <a:latin typeface="Calibri" pitchFamily="34" charset="0"/>
                <a:ea typeface="Calibri" pitchFamily="34" charset="-122"/>
                <a:cs typeface="Calibri" pitchFamily="34" charset="-120"/>
              </a:rPr>
              <a:t>Build cohérent, chaque .cpp inclut son en-tête, aucun TODO. Correction d'un #include dupliqué dans main.cpp et repérage de code orphelin (HeatmapRenderer).</a:t>
            </a:r>
            <a:endParaRPr lang="en-US" sz="1450" dirty="0"/>
          </a:p>
        </p:txBody>
      </p:sp>
      <p:sp>
        <p:nvSpPr>
          <p:cNvPr id="14" name="Text 11"/>
          <p:cNvSpPr/>
          <p:nvPr/>
        </p:nvSpPr>
        <p:spPr>
          <a:xfrm>
            <a:off x="11320272" y="6309360"/>
            <a:ext cx="548640" cy="365760"/>
          </a:xfrm>
          <a:prstGeom prst="rect">
            <a:avLst/>
          </a:prstGeom>
          <a:noFill/>
          <a:ln/>
        </p:spPr>
        <p:txBody>
          <a:bodyPr wrap="square" rtlCol="0" anchor="ctr"/>
          <a:lstStyle/>
          <a:p>
            <a:pPr algn="r" indent="0" marL="0">
              <a:buNone/>
            </a:pPr>
            <a:r>
              <a:rPr lang="en-US" sz="1100" dirty="0">
                <a:solidFill>
                  <a:srgbClr val="8893A6"/>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43F"/>
        </a:solidFill>
      </p:bgPr>
    </p:bg>
    <p:spTree>
      <p:nvGrpSpPr>
        <p:cNvPr id="1" name=""/>
        <p:cNvGrpSpPr/>
        <p:nvPr/>
      </p:nvGrpSpPr>
      <p:grpSpPr>
        <a:xfrm>
          <a:off x="0" y="0"/>
          <a:ext cx="0" cy="0"/>
          <a:chOff x="0" y="0"/>
          <a:chExt cx="0" cy="0"/>
        </a:xfrm>
      </p:grpSpPr>
      <p:sp>
        <p:nvSpPr>
          <p:cNvPr id="2" name="Shape 0"/>
          <p:cNvSpPr/>
          <p:nvPr/>
        </p:nvSpPr>
        <p:spPr>
          <a:xfrm>
            <a:off x="-2286000" y="3657600"/>
            <a:ext cx="6400800" cy="6400800"/>
          </a:xfrm>
          <a:prstGeom prst="ellipse">
            <a:avLst/>
          </a:prstGeom>
          <a:solidFill>
            <a:srgbClr val="2D5B9E">
              <a:alpha val="20000"/>
            </a:srgbClr>
          </a:solidFill>
          <a:ln/>
        </p:spPr>
      </p:sp>
      <p:sp>
        <p:nvSpPr>
          <p:cNvPr id="3" name="Text 1"/>
          <p:cNvSpPr/>
          <p:nvPr/>
        </p:nvSpPr>
        <p:spPr>
          <a:xfrm>
            <a:off x="822960" y="640080"/>
            <a:ext cx="10058400" cy="365760"/>
          </a:xfrm>
          <a:prstGeom prst="rect">
            <a:avLst/>
          </a:prstGeom>
          <a:noFill/>
          <a:ln/>
        </p:spPr>
        <p:txBody>
          <a:bodyPr wrap="square" rtlCol="0" anchor="ctr"/>
          <a:lstStyle/>
          <a:p>
            <a:pPr indent="0" marL="0">
              <a:buNone/>
            </a:pPr>
            <a:r>
              <a:rPr lang="en-US" sz="1400" b="1" spc="300" kern="0" dirty="0">
                <a:solidFill>
                  <a:srgbClr val="D4A12A"/>
                </a:solidFill>
                <a:latin typeface="Calibri" pitchFamily="34" charset="0"/>
                <a:ea typeface="Calibri" pitchFamily="34" charset="-122"/>
                <a:cs typeface="Calibri" pitchFamily="34" charset="-120"/>
              </a:rPr>
              <a:t>POUR CONCLURE</a:t>
            </a:r>
            <a:endParaRPr lang="en-US" sz="1400" dirty="0"/>
          </a:p>
        </p:txBody>
      </p:sp>
      <p:sp>
        <p:nvSpPr>
          <p:cNvPr id="4" name="Text 2"/>
          <p:cNvSpPr/>
          <p:nvPr/>
        </p:nvSpPr>
        <p:spPr>
          <a:xfrm>
            <a:off x="777240" y="960120"/>
            <a:ext cx="10698480" cy="82296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Où en sommes-nous, et la suite</a:t>
            </a:r>
            <a:endParaRPr lang="en-US" sz="3200" dirty="0"/>
          </a:p>
        </p:txBody>
      </p:sp>
      <p:sp>
        <p:nvSpPr>
          <p:cNvPr id="5" name="Shape 3"/>
          <p:cNvSpPr/>
          <p:nvPr/>
        </p:nvSpPr>
        <p:spPr>
          <a:xfrm>
            <a:off x="822960" y="2011680"/>
            <a:ext cx="5349240" cy="1463040"/>
          </a:xfrm>
          <a:prstGeom prst="rect">
            <a:avLst/>
          </a:prstGeom>
          <a:solidFill>
            <a:srgbClr val="1F3052"/>
          </a:solidFill>
          <a:ln w="12700">
            <a:solidFill>
              <a:srgbClr val="34466E"/>
            </a:solidFill>
            <a:prstDash val="solid"/>
          </a:ln>
        </p:spPr>
      </p:sp>
      <p:sp>
        <p:nvSpPr>
          <p:cNvPr id="6" name="Shape 4"/>
          <p:cNvSpPr/>
          <p:nvPr/>
        </p:nvSpPr>
        <p:spPr>
          <a:xfrm>
            <a:off x="822960" y="2011680"/>
            <a:ext cx="82296" cy="1463040"/>
          </a:xfrm>
          <a:prstGeom prst="rect">
            <a:avLst/>
          </a:prstGeom>
          <a:solidFill>
            <a:srgbClr val="D4A12A"/>
          </a:solidFill>
          <a:ln/>
        </p:spPr>
      </p:sp>
      <p:sp>
        <p:nvSpPr>
          <p:cNvPr id="7" name="Text 5"/>
          <p:cNvSpPr/>
          <p:nvPr/>
        </p:nvSpPr>
        <p:spPr>
          <a:xfrm>
            <a:off x="1078992" y="2157984"/>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Ce qui fonctionne</a:t>
            </a:r>
            <a:endParaRPr lang="en-US" sz="1500" dirty="0"/>
          </a:p>
        </p:txBody>
      </p:sp>
      <p:sp>
        <p:nvSpPr>
          <p:cNvPr id="8" name="Text 6"/>
          <p:cNvSpPr/>
          <p:nvPr/>
        </p:nvSpPr>
        <p:spPr>
          <a:xfrm>
            <a:off x="1078992" y="2542032"/>
            <a:ext cx="4892040" cy="822960"/>
          </a:xfrm>
          <a:prstGeom prst="rect">
            <a:avLst/>
          </a:prstGeom>
          <a:noFill/>
          <a:ln/>
        </p:spPr>
        <p:txBody>
          <a:bodyPr wrap="square" lIns="0" tIns="0" rIns="0" bIns="0" rtlCol="0" anchor="t"/>
          <a:lstStyle/>
          <a:p>
            <a:pPr indent="0" marL="0">
              <a:buNone/>
            </a:pPr>
            <a:r>
              <a:rPr lang="en-US" sz="1150" dirty="0">
                <a:solidFill>
                  <a:srgbClr val="C7D2E6"/>
                </a:solidFill>
                <a:latin typeface="Calibri" pitchFamily="34" charset="0"/>
                <a:ea typeface="Calibri" pitchFamily="34" charset="-122"/>
                <a:cs typeface="Calibri" pitchFamily="34" charset="-120"/>
              </a:rPr>
              <a:t>Les 7 modules sont en place : carte, graphe, simulation A*, réseau V2V, optimisation, interface — plus feux, accidents, densité, météo.</a:t>
            </a:r>
            <a:endParaRPr lang="en-US" sz="1150" dirty="0"/>
          </a:p>
        </p:txBody>
      </p:sp>
      <p:sp>
        <p:nvSpPr>
          <p:cNvPr id="9" name="Shape 7"/>
          <p:cNvSpPr/>
          <p:nvPr/>
        </p:nvSpPr>
        <p:spPr>
          <a:xfrm>
            <a:off x="6355080" y="2011680"/>
            <a:ext cx="5029200" cy="1463040"/>
          </a:xfrm>
          <a:prstGeom prst="rect">
            <a:avLst/>
          </a:prstGeom>
          <a:solidFill>
            <a:srgbClr val="1F3052"/>
          </a:solidFill>
          <a:ln w="12700">
            <a:solidFill>
              <a:srgbClr val="34466E"/>
            </a:solidFill>
            <a:prstDash val="solid"/>
          </a:ln>
        </p:spPr>
      </p:sp>
      <p:sp>
        <p:nvSpPr>
          <p:cNvPr id="10" name="Shape 8"/>
          <p:cNvSpPr/>
          <p:nvPr/>
        </p:nvSpPr>
        <p:spPr>
          <a:xfrm>
            <a:off x="6355080" y="2011680"/>
            <a:ext cx="82296" cy="1463040"/>
          </a:xfrm>
          <a:prstGeom prst="rect">
            <a:avLst/>
          </a:prstGeom>
          <a:solidFill>
            <a:srgbClr val="2D5B9E"/>
          </a:solidFill>
          <a:ln/>
        </p:spPr>
      </p:sp>
      <p:sp>
        <p:nvSpPr>
          <p:cNvPr id="11" name="Text 9"/>
          <p:cNvSpPr/>
          <p:nvPr/>
        </p:nvSpPr>
        <p:spPr>
          <a:xfrm>
            <a:off x="6611112" y="2157984"/>
            <a:ext cx="4572000" cy="36576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À finaliser</a:t>
            </a:r>
            <a:endParaRPr lang="en-US" sz="1500" dirty="0"/>
          </a:p>
        </p:txBody>
      </p:sp>
      <p:sp>
        <p:nvSpPr>
          <p:cNvPr id="12" name="Text 10"/>
          <p:cNvSpPr/>
          <p:nvPr/>
        </p:nvSpPr>
        <p:spPr>
          <a:xfrm>
            <a:off x="6611112" y="2542032"/>
            <a:ext cx="4572000" cy="822960"/>
          </a:xfrm>
          <a:prstGeom prst="rect">
            <a:avLst/>
          </a:prstGeom>
          <a:noFill/>
          <a:ln/>
        </p:spPr>
        <p:txBody>
          <a:bodyPr wrap="square" lIns="0" tIns="0" rIns="0" bIns="0" rtlCol="0" anchor="t"/>
          <a:lstStyle/>
          <a:p>
            <a:pPr indent="0" marL="0">
              <a:buNone/>
            </a:pPr>
            <a:r>
              <a:rPr lang="en-US" sz="1150" dirty="0">
                <a:solidFill>
                  <a:srgbClr val="C7D2E6"/>
                </a:solidFill>
                <a:latin typeface="Calibri" pitchFamily="34" charset="0"/>
                <a:ea typeface="Calibri" pitchFamily="34" charset="-122"/>
                <a:cs typeface="Calibri" pitchFamily="34" charset="-120"/>
              </a:rPr>
              <a:t>Compiler et valider sur poste de développement ; finaliser le rapport écrit ; nettoyer le code orphelin.</a:t>
            </a:r>
            <a:endParaRPr lang="en-US" sz="1150" dirty="0"/>
          </a:p>
        </p:txBody>
      </p:sp>
      <p:sp>
        <p:nvSpPr>
          <p:cNvPr id="13" name="Shape 11"/>
          <p:cNvSpPr/>
          <p:nvPr/>
        </p:nvSpPr>
        <p:spPr>
          <a:xfrm>
            <a:off x="822960" y="3657600"/>
            <a:ext cx="10561320" cy="1051560"/>
          </a:xfrm>
          <a:prstGeom prst="rect">
            <a:avLst/>
          </a:prstGeom>
          <a:solidFill>
            <a:srgbClr val="1F3052"/>
          </a:solidFill>
          <a:ln w="12700">
            <a:solidFill>
              <a:srgbClr val="34466E"/>
            </a:solidFill>
            <a:prstDash val="solid"/>
          </a:ln>
        </p:spPr>
      </p:sp>
      <p:sp>
        <p:nvSpPr>
          <p:cNvPr id="14" name="Shape 12"/>
          <p:cNvSpPr/>
          <p:nvPr/>
        </p:nvSpPr>
        <p:spPr>
          <a:xfrm>
            <a:off x="822960" y="3657600"/>
            <a:ext cx="82296" cy="1051560"/>
          </a:xfrm>
          <a:prstGeom prst="rect">
            <a:avLst/>
          </a:prstGeom>
          <a:solidFill>
            <a:srgbClr val="D4A12A"/>
          </a:solidFill>
          <a:ln/>
        </p:spPr>
      </p:sp>
      <p:sp>
        <p:nvSpPr>
          <p:cNvPr id="15" name="Text 13"/>
          <p:cNvSpPr/>
          <p:nvPr/>
        </p:nvSpPr>
        <p:spPr>
          <a:xfrm>
            <a:off x="1078992" y="3803904"/>
            <a:ext cx="10104120" cy="36576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Pistes d'évolution</a:t>
            </a:r>
            <a:endParaRPr lang="en-US" sz="1500" dirty="0"/>
          </a:p>
        </p:txBody>
      </p:sp>
      <p:sp>
        <p:nvSpPr>
          <p:cNvPr id="16" name="Text 14"/>
          <p:cNvSpPr/>
          <p:nvPr/>
        </p:nvSpPr>
        <p:spPr>
          <a:xfrm>
            <a:off x="1078992" y="4187952"/>
            <a:ext cx="10104120" cy="411480"/>
          </a:xfrm>
          <a:prstGeom prst="rect">
            <a:avLst/>
          </a:prstGeom>
          <a:noFill/>
          <a:ln/>
        </p:spPr>
        <p:txBody>
          <a:bodyPr wrap="square" lIns="0" tIns="0" rIns="0" bIns="0" rtlCol="0" anchor="t"/>
          <a:lstStyle/>
          <a:p>
            <a:pPr indent="0" marL="0">
              <a:buNone/>
            </a:pPr>
            <a:r>
              <a:rPr lang="en-US" sz="1150" dirty="0">
                <a:solidFill>
                  <a:srgbClr val="C7D2E6"/>
                </a:solidFill>
                <a:latin typeface="Calibri" pitchFamily="34" charset="0"/>
                <a:ea typeface="Calibri" pitchFamily="34" charset="-122"/>
                <a:cs typeface="Calibri" pitchFamily="34" charset="-120"/>
              </a:rPr>
              <a:t>Modèle radio physique (log-distance / Friis) · liens V2V plus épais (rubans de triangles) · serveur de tuiles dédié pour un usage soutenu.</a:t>
            </a:r>
            <a:endParaRPr lang="en-US" sz="1150" dirty="0"/>
          </a:p>
        </p:txBody>
      </p:sp>
      <p:sp>
        <p:nvSpPr>
          <p:cNvPr id="17" name="Shape 15"/>
          <p:cNvSpPr/>
          <p:nvPr/>
        </p:nvSpPr>
        <p:spPr>
          <a:xfrm>
            <a:off x="822960" y="4956048"/>
            <a:ext cx="10561320" cy="1371600"/>
          </a:xfrm>
          <a:prstGeom prst="rect">
            <a:avLst/>
          </a:prstGeom>
          <a:solidFill>
            <a:srgbClr val="D4A12A"/>
          </a:solidFill>
          <a:ln/>
        </p:spPr>
      </p:sp>
      <p:sp>
        <p:nvSpPr>
          <p:cNvPr id="18" name="Text 16"/>
          <p:cNvSpPr/>
          <p:nvPr/>
        </p:nvSpPr>
        <p:spPr>
          <a:xfrm>
            <a:off x="1097280" y="5074920"/>
            <a:ext cx="10058400" cy="411480"/>
          </a:xfrm>
          <a:prstGeom prst="rect">
            <a:avLst/>
          </a:prstGeom>
          <a:noFill/>
          <a:ln/>
        </p:spPr>
        <p:txBody>
          <a:bodyPr wrap="square" lIns="0" tIns="0" rIns="0" bIns="0" rtlCol="0" anchor="ctr"/>
          <a:lstStyle/>
          <a:p>
            <a:pPr indent="0" marL="0">
              <a:buNone/>
            </a:pPr>
            <a:r>
              <a:rPr lang="en-US" sz="1600" b="1" dirty="0">
                <a:solidFill>
                  <a:srgbClr val="16243F"/>
                </a:solidFill>
                <a:latin typeface="Trebuchet MS" pitchFamily="34" charset="0"/>
                <a:ea typeface="Trebuchet MS" pitchFamily="34" charset="-122"/>
                <a:cs typeface="Trebuchet MS" pitchFamily="34" charset="-120"/>
              </a:rPr>
              <a:t>Questions pour l'encadrant</a:t>
            </a:r>
            <a:endParaRPr lang="en-US" sz="1600" dirty="0"/>
          </a:p>
        </p:txBody>
      </p:sp>
      <p:sp>
        <p:nvSpPr>
          <p:cNvPr id="19" name="Text 17"/>
          <p:cNvSpPr/>
          <p:nvPr/>
        </p:nvSpPr>
        <p:spPr>
          <a:xfrm>
            <a:off x="1097280" y="5468112"/>
            <a:ext cx="10058400" cy="777240"/>
          </a:xfrm>
          <a:prstGeom prst="rect">
            <a:avLst/>
          </a:prstGeom>
          <a:noFill/>
          <a:ln/>
        </p:spPr>
        <p:txBody>
          <a:bodyPr wrap="square" lIns="0" tIns="0" rIns="0" bIns="0" rtlCol="0" anchor="ctr"/>
          <a:lstStyle/>
          <a:p>
            <a:pPr indent="0" marL="0">
              <a:spcAft>
                <a:spcPts val="300"/>
              </a:spcAft>
              <a:buNone/>
            </a:pPr>
            <a:r>
              <a:rPr lang="en-US" sz="1250" dirty="0">
                <a:solidFill>
                  <a:srgbClr val="3A2E08"/>
                </a:solidFill>
                <a:latin typeface="Calibri" pitchFamily="34" charset="0"/>
                <a:ea typeface="Calibri" pitchFamily="34" charset="-122"/>
                <a:cs typeface="Calibri" pitchFamily="34" charset="-120"/>
              </a:rPr>
              <a:t>Le périmètre fonctionnel est-il suffisant, ou faut-il approfondir un axe (ex. modèle radio) ?   </a:t>
            </a:r>
            <a:endParaRPr lang="en-US" sz="1250" dirty="0"/>
          </a:p>
          <a:p>
            <a:pPr indent="0" marL="0">
              <a:buNone/>
            </a:pPr>
            <a:r>
              <a:rPr lang="en-US" sz="1250" dirty="0">
                <a:solidFill>
                  <a:srgbClr val="3A2E08"/>
                </a:solidFill>
                <a:latin typeface="Calibri" pitchFamily="34" charset="0"/>
                <a:ea typeface="Calibri" pitchFamily="34" charset="-122"/>
                <a:cs typeface="Calibri" pitchFamily="34" charset="-120"/>
              </a:rPr>
              <a:t>Quelles attentes précises sur le rapport écrit et la soutenance ?</a:t>
            </a:r>
            <a:endParaRPr lang="en-US" sz="1250" dirty="0"/>
          </a:p>
        </p:txBody>
      </p:sp>
      <p:sp>
        <p:nvSpPr>
          <p:cNvPr id="20" name="Text 18"/>
          <p:cNvSpPr/>
          <p:nvPr/>
        </p:nvSpPr>
        <p:spPr>
          <a:xfrm>
            <a:off x="822960" y="6400800"/>
            <a:ext cx="10515600" cy="365760"/>
          </a:xfrm>
          <a:prstGeom prst="rect">
            <a:avLst/>
          </a:prstGeom>
          <a:noFill/>
          <a:ln/>
        </p:spPr>
        <p:txBody>
          <a:bodyPr wrap="square" rtlCol="0" anchor="ctr"/>
          <a:lstStyle/>
          <a:p>
            <a:pPr indent="0" marL="0">
              <a:buNone/>
            </a:pPr>
            <a:r>
              <a:rPr lang="en-US" sz="1100" i="1" dirty="0">
                <a:solidFill>
                  <a:srgbClr val="9FB0CC"/>
                </a:solidFill>
                <a:latin typeface="Calibri" pitchFamily="34" charset="0"/>
                <a:ea typeface="Calibri" pitchFamily="34" charset="-122"/>
                <a:cs typeface="Calibri" pitchFamily="34" charset="-120"/>
              </a:rPr>
              <a:t>Merci de votre attention — Mia &amp; Mohammed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V2V - Présentation encadrant</dc:title>
  <dc:subject>PptxGenJS Presentation</dc:subject>
  <dc:creator>Projet V2V</dc:creator>
  <cp:lastModifiedBy>Projet V2V</cp:lastModifiedBy>
  <cp:revision>1</cp:revision>
  <dcterms:created xsi:type="dcterms:W3CDTF">2026-05-22T00:03:53Z</dcterms:created>
  <dcterms:modified xsi:type="dcterms:W3CDTF">2026-05-22T00:03:53Z</dcterms:modified>
</cp:coreProperties>
</file>