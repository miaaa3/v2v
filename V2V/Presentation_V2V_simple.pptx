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743200"/>
            <a:ext cx="7315200" cy="7315200"/>
          </a:xfrm>
          <a:prstGeom prst="ellipse">
            <a:avLst/>
          </a:prstGeom>
          <a:solidFill>
            <a:srgbClr val="1E305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749040"/>
            <a:ext cx="6400800" cy="6400800"/>
          </a:xfrm>
          <a:prstGeom prst="ellipse">
            <a:avLst/>
          </a:prstGeom>
          <a:solidFill>
            <a:srgbClr val="1E3050">
              <a:alpha val="35000"/>
            </a:srgbClr>
          </a:solidFill>
          <a:ln/>
        </p:spPr>
      </p:sp>
      <p:pic>
        <p:nvPicPr>
          <p:cNvPr id="4" name="Image 0" descr="/sessions/lucid-gifted-tesla/mnt/V2V/IMAGES/UHA_cartouch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1737360" cy="12618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ONLINE   ·   SMART TRANSPORTATION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251460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35C7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V2V</a:t>
            </a:r>
            <a:endParaRPr lang="en-US" sz="9600" dirty="0"/>
          </a:p>
        </p:txBody>
      </p:sp>
      <p:sp>
        <p:nvSpPr>
          <p:cNvPr id="7" name="Text 4"/>
          <p:cNvSpPr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Simulateur de communication Vehicle-to-Vehicle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49808" y="4709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avons réalisé  ·  Ce que nous voulons ajouter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5440680"/>
            <a:ext cx="3108960" cy="0"/>
          </a:xfrm>
          <a:prstGeom prst="line">
            <a:avLst/>
          </a:prstGeom>
          <a:noFill/>
          <a:ln w="31750">
            <a:solidFill>
              <a:srgbClr val="35C7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5623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83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tutoré  ·  C++20  ·  OpenGL 3.3  ·  Mai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46304" cy="47548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5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EN BREF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Qu'est-ce que V2V 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V2V est un simulateur graphique temps réel. Il charge une vraie carte de ville, y fait circuler des milliers de véhicules autonomes, et visualise le réseau de communication radio qui se forme dynamiquement entre les véhicules proches.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468880"/>
            <a:ext cx="3429000" cy="210312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468880"/>
            <a:ext cx="3429000" cy="6400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8" name="Text 6"/>
          <p:cNvSpPr/>
          <p:nvPr/>
        </p:nvSpPr>
        <p:spPr>
          <a:xfrm>
            <a:off x="1106424" y="265176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carte réelle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OpenStreetMap : les véhicules roulent sur le vrai réseau de rues de la ville.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2468880"/>
            <a:ext cx="3429000" cy="210312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468880"/>
            <a:ext cx="3429000" cy="64008"/>
          </a:xfrm>
          <a:prstGeom prst="rect">
            <a:avLst/>
          </a:prstGeom>
          <a:solidFill>
            <a:srgbClr val="3FD08A"/>
          </a:solidFill>
          <a:ln/>
        </p:spPr>
      </p:sp>
      <p:sp>
        <p:nvSpPr>
          <p:cNvPr id="11" name="Text 9"/>
          <p:cNvSpPr/>
          <p:nvPr/>
        </p:nvSpPr>
        <p:spPr>
          <a:xfrm>
            <a:off x="4764024" y="265176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trafic vivant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milliers de véhicules circulent, calculent leur itinéraire et réagissent aux feux et aux accidents.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83880" y="2468880"/>
            <a:ext cx="3429000" cy="210312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83880" y="2468880"/>
            <a:ext cx="3429000" cy="64008"/>
          </a:xfrm>
          <a:prstGeom prst="rect">
            <a:avLst/>
          </a:prstGeom>
          <a:solidFill>
            <a:srgbClr val="E3AC44"/>
          </a:solidFill>
          <a:ln/>
        </p:spPr>
      </p:sp>
      <p:sp>
        <p:nvSpPr>
          <p:cNvPr id="14" name="Text 12"/>
          <p:cNvSpPr/>
          <p:nvPr/>
        </p:nvSpPr>
        <p:spPr>
          <a:xfrm>
            <a:off x="8421624" y="265176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réseau V2V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véhicule communique avec ses voisins : liens radio, force du signal, diffusion d'alertes.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4800600"/>
            <a:ext cx="10469880" cy="141732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800600"/>
            <a:ext cx="10469880" cy="6400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4983480"/>
            <a:ext cx="10012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À quoi ça sert ?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V2V est une brique des véhicules connectés et de la sécurité routière de demain : alerte de collision, signalement d'accident, fluidification du trafic. Notre simulateur permet de l'observer, de le piloter et de le mesurer.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228832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483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46304" cy="47548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5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nous avons construit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83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grandes fonctionnalités sont aujourd'hui en place et opérationnelles.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3429000" cy="205740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20240"/>
            <a:ext cx="3429000" cy="6400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8" name="Text 6"/>
          <p:cNvSpPr/>
          <p:nvPr/>
        </p:nvSpPr>
        <p:spPr>
          <a:xfrm>
            <a:off x="1106424" y="210312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Carte OSM réelle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d'une ville OpenStreetMap et affichage du fond de carte en tuiles.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3429000" cy="205740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920240"/>
            <a:ext cx="3429000" cy="64008"/>
          </a:xfrm>
          <a:prstGeom prst="rect">
            <a:avLst/>
          </a:prstGeom>
          <a:solidFill>
            <a:srgbClr val="3FD08A"/>
          </a:solidFill>
          <a:ln/>
        </p:spPr>
      </p:sp>
      <p:sp>
        <p:nvSpPr>
          <p:cNvPr id="11" name="Text 9"/>
          <p:cNvSpPr/>
          <p:nvPr/>
        </p:nvSpPr>
        <p:spPr>
          <a:xfrm>
            <a:off x="4764024" y="210312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Trafic &amp; navigation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milliers de véhicules qui calculent leur trajet avec l'algorithme A*.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83880" y="1920240"/>
            <a:ext cx="3429000" cy="205740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83880" y="1920240"/>
            <a:ext cx="3429000" cy="64008"/>
          </a:xfrm>
          <a:prstGeom prst="rect">
            <a:avLst/>
          </a:prstGeom>
          <a:solidFill>
            <a:srgbClr val="E3AC44"/>
          </a:solidFill>
          <a:ln/>
        </p:spPr>
      </p:sp>
      <p:sp>
        <p:nvSpPr>
          <p:cNvPr id="14" name="Text 12"/>
          <p:cNvSpPr/>
          <p:nvPr/>
        </p:nvSpPr>
        <p:spPr>
          <a:xfrm>
            <a:off x="8421624" y="210312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Réseau V2V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radio recalculés en continu + diffusion de messages multi-sauts.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4206240"/>
            <a:ext cx="3429000" cy="205740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206240"/>
            <a:ext cx="3429000" cy="64008"/>
          </a:xfrm>
          <a:prstGeom prst="rect">
            <a:avLst/>
          </a:prstGeom>
          <a:solidFill>
            <a:srgbClr val="E0604F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438912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Feux &amp; accidents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Feux de signalisation aux carrefours et accidents qui bloquent la route.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26280" y="4206240"/>
            <a:ext cx="3429000" cy="205740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26280" y="4206240"/>
            <a:ext cx="3429000" cy="6400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20" name="Text 18"/>
          <p:cNvSpPr/>
          <p:nvPr/>
        </p:nvSpPr>
        <p:spPr>
          <a:xfrm>
            <a:off x="4764024" y="438912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Carte de densité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des zones de trafic dense, du bleu (fluide) au rouge (saturé).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83880" y="4206240"/>
            <a:ext cx="3429000" cy="205740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83880" y="4206240"/>
            <a:ext cx="3429000" cy="64008"/>
          </a:xfrm>
          <a:prstGeom prst="rect">
            <a:avLst/>
          </a:prstGeom>
          <a:solidFill>
            <a:srgbClr val="3FD08A"/>
          </a:solidFill>
          <a:ln/>
        </p:spPr>
      </p:sp>
      <p:sp>
        <p:nvSpPr>
          <p:cNvPr id="23" name="Text 21"/>
          <p:cNvSpPr/>
          <p:nvPr/>
        </p:nvSpPr>
        <p:spPr>
          <a:xfrm>
            <a:off x="8421624" y="438912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Météo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Pluie et brouillard qui agissent sur la vitesse et la portée des communications.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28832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483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46304" cy="47548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5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L'INTERFACE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Anatomie de l'écran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83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s'organise en cinq zones. Voici ce que montre chacune.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5623560" cy="4160520"/>
          </a:xfrm>
          <a:prstGeom prst="rect">
            <a:avLst/>
          </a:prstGeom>
          <a:solidFill>
            <a:srgbClr val="0E1A2C"/>
          </a:solidFill>
          <a:ln w="15875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65960"/>
            <a:ext cx="5623560" cy="566928"/>
          </a:xfrm>
          <a:prstGeom prst="rect">
            <a:avLst/>
          </a:prstGeom>
          <a:solidFill>
            <a:srgbClr val="0A1422"/>
          </a:solidFill>
          <a:ln/>
        </p:spPr>
      </p:sp>
      <p:sp>
        <p:nvSpPr>
          <p:cNvPr id="8" name="Shape 6"/>
          <p:cNvSpPr/>
          <p:nvPr/>
        </p:nvSpPr>
        <p:spPr>
          <a:xfrm>
            <a:off x="978408" y="2642616"/>
            <a:ext cx="1417320" cy="3337560"/>
          </a:xfrm>
          <a:prstGeom prst="rect">
            <a:avLst/>
          </a:prstGeom>
          <a:solidFill>
            <a:srgbClr val="172539"/>
          </a:solidFill>
          <a:ln w="9525">
            <a:solidFill>
              <a:srgbClr val="35C7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65192" y="2642616"/>
            <a:ext cx="1417320" cy="1874520"/>
          </a:xfrm>
          <a:prstGeom prst="rect">
            <a:avLst/>
          </a:prstGeom>
          <a:solidFill>
            <a:srgbClr val="172539"/>
          </a:solidFill>
          <a:ln w="9525">
            <a:solidFill>
              <a:srgbClr val="E3AC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65192" y="4636008"/>
            <a:ext cx="1417320" cy="1371600"/>
          </a:xfrm>
          <a:prstGeom prst="rect">
            <a:avLst/>
          </a:prstGeom>
          <a:solidFill>
            <a:srgbClr val="172539"/>
          </a:solidFill>
          <a:ln w="9525">
            <a:solidFill>
              <a:srgbClr val="3FD0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3977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83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&amp; SIMULATION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33272" y="2039112"/>
            <a:ext cx="420624" cy="420624"/>
          </a:xfrm>
          <a:prstGeom prst="ellipse">
            <a:avLst/>
          </a:prstGeom>
          <a:solidFill>
            <a:srgbClr val="35C7E8"/>
          </a:solidFill>
          <a:ln/>
        </p:spPr>
      </p:sp>
      <p:sp>
        <p:nvSpPr>
          <p:cNvPr id="13" name="Text 11"/>
          <p:cNvSpPr/>
          <p:nvPr/>
        </p:nvSpPr>
        <p:spPr>
          <a:xfrm>
            <a:off x="10332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3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69848" y="2715768"/>
            <a:ext cx="420624" cy="420624"/>
          </a:xfrm>
          <a:prstGeom prst="ellipse">
            <a:avLst/>
          </a:prstGeom>
          <a:solidFill>
            <a:srgbClr val="35C7E8"/>
          </a:solidFill>
          <a:ln/>
        </p:spPr>
      </p:sp>
      <p:sp>
        <p:nvSpPr>
          <p:cNvPr id="15" name="Text 13"/>
          <p:cNvSpPr/>
          <p:nvPr/>
        </p:nvSpPr>
        <p:spPr>
          <a:xfrm>
            <a:off x="1069848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3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64408" y="3794760"/>
            <a:ext cx="420624" cy="420624"/>
          </a:xfrm>
          <a:prstGeom prst="ellipse">
            <a:avLst/>
          </a:prstGeom>
          <a:solidFill>
            <a:srgbClr val="E6EDF5"/>
          </a:solidFill>
          <a:ln/>
        </p:spPr>
      </p:sp>
      <p:sp>
        <p:nvSpPr>
          <p:cNvPr id="17" name="Text 15"/>
          <p:cNvSpPr/>
          <p:nvPr/>
        </p:nvSpPr>
        <p:spPr>
          <a:xfrm>
            <a:off x="3264408" y="3794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3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2715768"/>
            <a:ext cx="420624" cy="420624"/>
          </a:xfrm>
          <a:prstGeom prst="ellipse">
            <a:avLst/>
          </a:prstGeom>
          <a:solidFill>
            <a:srgbClr val="E3AC44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3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4709160"/>
            <a:ext cx="420624" cy="420624"/>
          </a:xfrm>
          <a:prstGeom prst="ellipse">
            <a:avLst/>
          </a:prstGeom>
          <a:solidFill>
            <a:srgbClr val="3FD08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4709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3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12280" y="1993392"/>
            <a:ext cx="402336" cy="402336"/>
          </a:xfrm>
          <a:prstGeom prst="ellipse">
            <a:avLst/>
          </a:prstGeom>
          <a:solidFill>
            <a:srgbClr val="35C7E8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60920" y="193852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Barre de métriques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60920" y="223113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en direct : véhicules, liens, FPS, signal, diffusions, alertes.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812280" y="2834640"/>
            <a:ext cx="402336" cy="402336"/>
          </a:xfrm>
          <a:prstGeom prst="ellipse">
            <a:avLst/>
          </a:prstGeom>
          <a:solidFill>
            <a:srgbClr val="35C7E8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60920" y="277977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Center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60920" y="307238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Réglages d'environnement, presets de qualité et radar de navigation.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812280" y="3675888"/>
            <a:ext cx="402336" cy="402336"/>
          </a:xfrm>
          <a:prstGeom prst="ellipse">
            <a:avLst/>
          </a:prstGeom>
          <a:solidFill>
            <a:srgbClr val="E6EDF5"/>
          </a:solidFill>
          <a:ln/>
        </p:spPr>
      </p:sp>
      <p:sp>
        <p:nvSpPr>
          <p:cNvPr id="31" name="Text 29"/>
          <p:cNvSpPr/>
          <p:nvPr/>
        </p:nvSpPr>
        <p:spPr>
          <a:xfrm>
            <a:off x="6812280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60920" y="362102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Carte &amp; simulation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60920" y="391363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trafic en temps réel sur le fond OpenStreetMap.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812280" y="4517136"/>
            <a:ext cx="402336" cy="402336"/>
          </a:xfrm>
          <a:prstGeom prst="ellipse">
            <a:avLst/>
          </a:prstGeom>
          <a:solidFill>
            <a:srgbClr val="E3AC44"/>
          </a:solidFill>
          <a:ln/>
        </p:spPr>
      </p:sp>
      <p:sp>
        <p:nvSpPr>
          <p:cNvPr id="35" name="Text 33"/>
          <p:cNvSpPr/>
          <p:nvPr/>
        </p:nvSpPr>
        <p:spPr>
          <a:xfrm>
            <a:off x="6812280" y="4517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60920" y="44622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Inspector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60920" y="47548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Télémétrie, réglages du réseau V2V et des accidents.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6812280" y="5358384"/>
            <a:ext cx="402336" cy="402336"/>
          </a:xfrm>
          <a:prstGeom prst="ellipse">
            <a:avLst/>
          </a:prstGeom>
          <a:solidFill>
            <a:srgbClr val="3FD08A"/>
          </a:solidFill>
          <a:ln/>
        </p:spPr>
      </p:sp>
      <p:sp>
        <p:nvSpPr>
          <p:cNvPr id="39" name="Text 37"/>
          <p:cNvSpPr/>
          <p:nvPr/>
        </p:nvSpPr>
        <p:spPr>
          <a:xfrm>
            <a:off x="6812280" y="5358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360920" y="530352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feed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360920" y="559612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horodaté des événements du système.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11228832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483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46304" cy="47548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5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L'INTERFACE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Chaque panneau, c'est quoi 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" y="1463040"/>
            <a:ext cx="5212080" cy="224028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463040"/>
            <a:ext cx="5212080" cy="6400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7" name="Text 5"/>
          <p:cNvSpPr/>
          <p:nvPr/>
        </p:nvSpPr>
        <p:spPr>
          <a:xfrm>
            <a:off x="1106424" y="1645920"/>
            <a:ext cx="47548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Barre de métriques (en haut)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chiffres suivis en direct, chacun avec une mini-courbe :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nombre de véhicules · LINKS liens V2V actifs · FPS fluidité · AVG SIG force moyenne du signal · BROADCAST diffusions en cours · ALERTS incidents.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5352" y="1463040"/>
            <a:ext cx="5074920" cy="224028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5352" y="1463040"/>
            <a:ext cx="5074920" cy="64008"/>
          </a:xfrm>
          <a:prstGeom prst="rect">
            <a:avLst/>
          </a:prstGeom>
          <a:solidFill>
            <a:srgbClr val="3FD08A"/>
          </a:solidFill>
          <a:ln/>
        </p:spPr>
      </p:sp>
      <p:sp>
        <p:nvSpPr>
          <p:cNvPr id="10" name="Text 8"/>
          <p:cNvSpPr/>
          <p:nvPr/>
        </p:nvSpPr>
        <p:spPr>
          <a:xfrm>
            <a:off x="6483096" y="1645920"/>
            <a:ext cx="4617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Center (à gauche)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règle l'heure du jour, la météo, l'intensité et la taille des véhicules.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PRESET : Ultra / High / Med / Perf.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: une mini-vue cliquable pour se téléporter sur la carte.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3886200"/>
            <a:ext cx="5212080" cy="233172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886200"/>
            <a:ext cx="5212080" cy="64008"/>
          </a:xfrm>
          <a:prstGeom prst="rect">
            <a:avLst/>
          </a:prstGeom>
          <a:solidFill>
            <a:srgbClr val="E3AC44"/>
          </a:solidFill>
          <a:ln/>
        </p:spPr>
      </p:sp>
      <p:sp>
        <p:nvSpPr>
          <p:cNvPr id="13" name="Text 11"/>
          <p:cNvSpPr/>
          <p:nvPr/>
        </p:nvSpPr>
        <p:spPr>
          <a:xfrm>
            <a:off x="1106424" y="4069080"/>
            <a:ext cx="47548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Inspector (à droite)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: état interne — grille spatiale, nombre d'entrées.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V2V NETWORK : portée radio maximale, liens actifs, force moyenne.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: fréquence, durée, déclenchement manuel, compteur d'épaves.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45352" y="3886200"/>
            <a:ext cx="5074920" cy="233172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45352" y="3886200"/>
            <a:ext cx="5074920" cy="64008"/>
          </a:xfrm>
          <a:prstGeom prst="rect">
            <a:avLst/>
          </a:prstGeom>
          <a:solidFill>
            <a:srgbClr val="3FD08A"/>
          </a:solidFill>
          <a:ln/>
        </p:spPr>
      </p:sp>
      <p:sp>
        <p:nvSpPr>
          <p:cNvPr id="16" name="Text 14"/>
          <p:cNvSpPr/>
          <p:nvPr/>
        </p:nvSpPr>
        <p:spPr>
          <a:xfrm>
            <a:off x="6483096" y="4069080"/>
            <a:ext cx="46177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feed (en bas à droite)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journal en direct du système : chaque diffusion V2V, chaque accident y est inscrit avec son horodatage (ex. « t = 91.7s — signal V2V, 3 anneaux en propagation »).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pour suivre ce qui se passe sans fixer la carte.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28832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483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46304" cy="47548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5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Sous le capot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83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mécanismes assurent que la simulation reste à la fois réaliste et fluide.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3429000" cy="228600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20240"/>
            <a:ext cx="3429000" cy="6400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8" name="Text 6"/>
          <p:cNvSpPr/>
          <p:nvPr/>
        </p:nvSpPr>
        <p:spPr>
          <a:xfrm>
            <a:off x="1106424" y="210312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Navigation A*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véhicule trouve son chemin avec l'algorithme A*, qui calcule le trajet le plus rapide en temps sur le réseau de rues.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3429000" cy="228600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920240"/>
            <a:ext cx="3429000" cy="64008"/>
          </a:xfrm>
          <a:prstGeom prst="rect">
            <a:avLst/>
          </a:prstGeom>
          <a:solidFill>
            <a:srgbClr val="E3AC44"/>
          </a:solidFill>
          <a:ln/>
        </p:spPr>
      </p:sp>
      <p:sp>
        <p:nvSpPr>
          <p:cNvPr id="11" name="Text 9"/>
          <p:cNvSpPr/>
          <p:nvPr/>
        </p:nvSpPr>
        <p:spPr>
          <a:xfrm>
            <a:off x="4764024" y="210312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Réseau V2V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image, on recalcule les liens : deux véhicules sont connectés s'ils sont à portée radio l'un de l'autre.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83880" y="1920240"/>
            <a:ext cx="3429000" cy="228600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83880" y="1920240"/>
            <a:ext cx="3429000" cy="64008"/>
          </a:xfrm>
          <a:prstGeom prst="rect">
            <a:avLst/>
          </a:prstGeom>
          <a:solidFill>
            <a:srgbClr val="3FD08A"/>
          </a:solidFill>
          <a:ln/>
        </p:spPr>
      </p:sp>
      <p:sp>
        <p:nvSpPr>
          <p:cNvPr id="14" name="Text 12"/>
          <p:cNvSpPr/>
          <p:nvPr/>
        </p:nvSpPr>
        <p:spPr>
          <a:xfrm>
            <a:off x="8421624" y="210312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Optimisation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grille spatiale évite de comparer tous les véhicules deux à deux, et le rendu groupé dessine tout le trafic d'un coup.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4434840"/>
            <a:ext cx="10469880" cy="169164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434840"/>
            <a:ext cx="10469880" cy="6400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4617720"/>
            <a:ext cx="10012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L'idée clé : la performance d'abord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simulateur a été conçu pour que le nombre d'images par seconde reste élevé même quand on ajoute des véhicules. Tous les calculs coûteux (itinéraires, détection des voisins) sont plafonnés ou accélérés — c'est ce qui permet d'afficher plus de 100 images/seconde avec 1500 véhicules à l'écran.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228832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483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46304" cy="47548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5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simulateur en chiffres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83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relevées lors d'une session type sur une ville complète.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2468880" cy="178308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65960"/>
            <a:ext cx="2468880" cy="6400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1284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5C7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60120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véhicules simulés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84448" y="1965960"/>
            <a:ext cx="2468880" cy="178308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4448" y="1965960"/>
            <a:ext cx="2468880" cy="64008"/>
          </a:xfrm>
          <a:prstGeom prst="rect">
            <a:avLst/>
          </a:prstGeom>
          <a:solidFill>
            <a:srgbClr val="3FD08A"/>
          </a:solidFill>
          <a:ln/>
        </p:spPr>
      </p:sp>
      <p:sp>
        <p:nvSpPr>
          <p:cNvPr id="12" name="Text 10"/>
          <p:cNvSpPr/>
          <p:nvPr/>
        </p:nvSpPr>
        <p:spPr>
          <a:xfrm>
            <a:off x="3584448" y="221284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D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675888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/ seconde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0216" y="1965960"/>
            <a:ext cx="2468880" cy="178308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0216" y="1965960"/>
            <a:ext cx="2468880" cy="64008"/>
          </a:xfrm>
          <a:prstGeom prst="rect">
            <a:avLst/>
          </a:prstGeom>
          <a:solidFill>
            <a:srgbClr val="E3AC44"/>
          </a:solidFill>
          <a:ln/>
        </p:spPr>
      </p:sp>
      <p:sp>
        <p:nvSpPr>
          <p:cNvPr id="16" name="Text 14"/>
          <p:cNvSpPr/>
          <p:nvPr/>
        </p:nvSpPr>
        <p:spPr>
          <a:xfrm>
            <a:off x="6300216" y="221284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3A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1234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391656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V2V actifs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15984" y="1965960"/>
            <a:ext cx="2468880" cy="178308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15984" y="1965960"/>
            <a:ext cx="2468880" cy="6400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20" name="Text 18"/>
          <p:cNvSpPr/>
          <p:nvPr/>
        </p:nvSpPr>
        <p:spPr>
          <a:xfrm>
            <a:off x="9015984" y="221284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5C7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0.62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107424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moyenne du signal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" y="3977640"/>
            <a:ext cx="5212080" cy="214884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" y="3977640"/>
            <a:ext cx="5212080" cy="64008"/>
          </a:xfrm>
          <a:prstGeom prst="rect">
            <a:avLst/>
          </a:prstGeom>
          <a:solidFill>
            <a:srgbClr val="3FD08A"/>
          </a:solidFill>
          <a:ln/>
        </p:spPr>
      </p:sp>
      <p:sp>
        <p:nvSpPr>
          <p:cNvPr id="24" name="Text 22"/>
          <p:cNvSpPr/>
          <p:nvPr/>
        </p:nvSpPr>
        <p:spPr>
          <a:xfrm>
            <a:off x="1106424" y="4160520"/>
            <a:ext cx="4754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ça veut dire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images/seconde, c'est presque le double de l'objectif de fluidité (60). Le simulateur a donc de la marge : il pourrait gérer encore plus de véhicules sans devenir saccadé.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45352" y="3977640"/>
            <a:ext cx="5074920" cy="214884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45352" y="3977640"/>
            <a:ext cx="5074920" cy="6400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27" name="Text 25"/>
          <p:cNvSpPr/>
          <p:nvPr/>
        </p:nvSpPr>
        <p:spPr>
          <a:xfrm>
            <a:off x="6483096" y="4160520"/>
            <a:ext cx="4617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projet en volume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8 300 lignes de code C++, organisées en 7 modules indépendants : carte, graphe routier, simulation, réseau V2V, interface, optimisation, outils.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 progressivement, étape par étape, chaque étape étant testable.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228832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483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46304" cy="47548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5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SUITE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69494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idées que nous voulons ajouter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83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pistes d'évolution pour rendre le simulateur plus réaliste et plus utile.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3429000" cy="201168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20240"/>
            <a:ext cx="3429000" cy="6400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8" name="Text 6"/>
          <p:cNvSpPr/>
          <p:nvPr/>
        </p:nvSpPr>
        <p:spPr>
          <a:xfrm>
            <a:off x="1106424" y="210312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Modèle radio physique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le modèle de signal simple par un vrai modèle de propagation (log-distance / Friis) pour des portées réalistes.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3429000" cy="201168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920240"/>
            <a:ext cx="3429000" cy="64008"/>
          </a:xfrm>
          <a:prstGeom prst="rect">
            <a:avLst/>
          </a:prstGeom>
          <a:solidFill>
            <a:srgbClr val="3FD08A"/>
          </a:solidFill>
          <a:ln/>
        </p:spPr>
      </p:sp>
      <p:sp>
        <p:nvSpPr>
          <p:cNvPr id="11" name="Text 9"/>
          <p:cNvSpPr/>
          <p:nvPr/>
        </p:nvSpPr>
        <p:spPr>
          <a:xfrm>
            <a:off x="4764024" y="210312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 V2I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les infrastructures connectées : feux intelligents et bornes de bord de route qui dialoguent avec les véhicules.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83880" y="1920240"/>
            <a:ext cx="3429000" cy="201168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83880" y="1920240"/>
            <a:ext cx="3429000" cy="64008"/>
          </a:xfrm>
          <a:prstGeom prst="rect">
            <a:avLst/>
          </a:prstGeom>
          <a:solidFill>
            <a:srgbClr val="E0604F"/>
          </a:solidFill>
          <a:ln/>
        </p:spPr>
      </p:sp>
      <p:sp>
        <p:nvSpPr>
          <p:cNvPr id="14" name="Text 12"/>
          <p:cNvSpPr/>
          <p:nvPr/>
        </p:nvSpPr>
        <p:spPr>
          <a:xfrm>
            <a:off x="8421624" y="210312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Propagation d'alertes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un accident survient, faire remonter l'alerte de proche en proche et ralentir le trafic en amont.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4160520"/>
            <a:ext cx="3429000" cy="201168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160520"/>
            <a:ext cx="3429000" cy="64008"/>
          </a:xfrm>
          <a:prstGeom prst="rect">
            <a:avLst/>
          </a:prstGeom>
          <a:solidFill>
            <a:srgbClr val="E3AC44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43434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Scénarios rejouables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Pouvoir scripter et rejouer des situations précises (heure de pointe, panne) pour comparer les résultats.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26280" y="4160520"/>
            <a:ext cx="3429000" cy="201168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26280" y="4160520"/>
            <a:ext cx="3429000" cy="6400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20" name="Text 18"/>
          <p:cNvSpPr/>
          <p:nvPr/>
        </p:nvSpPr>
        <p:spPr>
          <a:xfrm>
            <a:off x="4764024" y="43434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de données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les mesures en CSV (trafic, liens, accidents) pour une analyse statistique hors simulateur.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83880" y="4160520"/>
            <a:ext cx="3429000" cy="201168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83880" y="4160520"/>
            <a:ext cx="3429000" cy="64008"/>
          </a:xfrm>
          <a:prstGeom prst="rect">
            <a:avLst/>
          </a:prstGeom>
          <a:solidFill>
            <a:srgbClr val="3FD08A"/>
          </a:solidFill>
          <a:ln/>
        </p:spPr>
      </p:sp>
      <p:sp>
        <p:nvSpPr>
          <p:cNvPr id="23" name="Text 21"/>
          <p:cNvSpPr/>
          <p:nvPr/>
        </p:nvSpPr>
        <p:spPr>
          <a:xfrm>
            <a:off x="8421624" y="43434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Carte de couverture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carte de qualité du réseau : visualiser les zones bien couvertes et les angles morts de communication.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28832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483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4152" y="-2743200"/>
            <a:ext cx="7315200" cy="7315200"/>
          </a:xfrm>
          <a:prstGeom prst="ellipse">
            <a:avLst/>
          </a:prstGeom>
          <a:solidFill>
            <a:srgbClr val="1E305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EN RÉSUMÉ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simulateur qui fonctionne,</a:t>
            </a:r>
            <a:endParaRPr lang="en-US" sz="3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feuille de route claire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5303520" cy="169164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43200"/>
            <a:ext cx="5303520" cy="64008"/>
          </a:xfrm>
          <a:prstGeom prst="rect">
            <a:avLst/>
          </a:prstGeom>
          <a:solidFill>
            <a:srgbClr val="3FD08A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292608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qui est fait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réelle, trafic A*, réseau V2V, feux, accidents, densité, météo, et une interface complète — le tout fluide, à plus de 100 images/seconde.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743200"/>
            <a:ext cx="4983480" cy="1691640"/>
          </a:xfrm>
          <a:prstGeom prst="rect">
            <a:avLst/>
          </a:prstGeom>
          <a:solidFill>
            <a:srgbClr val="172539"/>
          </a:solidFill>
          <a:ln w="12700">
            <a:solidFill>
              <a:srgbClr val="2B3E5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2743200"/>
            <a:ext cx="4983480" cy="64008"/>
          </a:xfrm>
          <a:prstGeom prst="rect">
            <a:avLst/>
          </a:prstGeom>
          <a:solidFill>
            <a:srgbClr val="35C7E8"/>
          </a:solidFill>
          <a:ln/>
        </p:spPr>
      </p:sp>
      <p:sp>
        <p:nvSpPr>
          <p:cNvPr id="10" name="Text 8"/>
          <p:cNvSpPr/>
          <p:nvPr/>
        </p:nvSpPr>
        <p:spPr>
          <a:xfrm>
            <a:off x="6638544" y="2926080"/>
            <a:ext cx="4526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qu'on veut ajouter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6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radio physique, la communication avec les infrastructures, la propagation d'alertes, et des outils d'analyse (scénarios, export, couverture).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709160"/>
            <a:ext cx="10561320" cy="1371600"/>
          </a:xfrm>
          <a:prstGeom prst="rect">
            <a:avLst/>
          </a:prstGeom>
          <a:solidFill>
            <a:srgbClr val="1E3050"/>
          </a:solidFill>
          <a:ln w="12700">
            <a:solidFill>
              <a:srgbClr val="35C7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8646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C7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Notre priorité suivante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52120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la communication plus réaliste (modèle radio physique) et utiliser le simulateur pour mesurer un vrai bénéfice de sécurité — par exemple, montrer que les alertes V2V réduisent les collisions.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483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V2V  ·  Smart Transportation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V2V — Ce qu'on a fait &amp; idées à ajouter</dc:title>
  <dc:subject>PptxGenJS Presentation</dc:subject>
  <dc:creator>Projet V2V</dc:creator>
  <cp:lastModifiedBy>Projet V2V</cp:lastModifiedBy>
  <cp:revision>1</cp:revision>
  <dcterms:created xsi:type="dcterms:W3CDTF">2026-05-22T00:59:21Z</dcterms:created>
  <dcterms:modified xsi:type="dcterms:W3CDTF">2026-05-22T00:59:21Z</dcterms:modified>
</cp:coreProperties>
</file>